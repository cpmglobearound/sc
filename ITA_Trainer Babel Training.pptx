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6858000" cy="9144000"/>
  <p:embeddedFontLst>
    <p:embeddedFont>
      <p:font typeface="Roboto"/>
      <p:regular r:id="rId17"/>
      <p:bold r:id="rId18"/>
      <p:italic r:id="rId19"/>
      <p:boldItalic r:id="rId20"/>
    </p:embeddedFont>
    <p:embeddedFont>
      <p:font typeface="Poppins"/>
      <p:regular r:id="rId21"/>
      <p:bold r:id="rId22"/>
      <p:italic r:id="rId23"/>
      <p:boldItalic r:id="rId24"/>
    </p:embeddedFont>
    <p:embeddedFont>
      <p:font typeface="Poppins ExtraBold"/>
      <p:bold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boldItalic.fntdata"/><Relationship Id="rId22" Type="http://schemas.openxmlformats.org/officeDocument/2006/relationships/font" Target="fonts/Poppins-bold.fntdata"/><Relationship Id="rId21" Type="http://schemas.openxmlformats.org/officeDocument/2006/relationships/font" Target="fonts/Poppins-regular.fntdata"/><Relationship Id="rId24" Type="http://schemas.openxmlformats.org/officeDocument/2006/relationships/font" Target="fonts/Poppins-boldItalic.fntdata"/><Relationship Id="rId23" Type="http://schemas.openxmlformats.org/officeDocument/2006/relationships/font" Target="fonts/Poppins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PoppinsExtraBold-boldItalic.fntdata"/><Relationship Id="rId25" Type="http://schemas.openxmlformats.org/officeDocument/2006/relationships/font" Target="fonts/PoppinsExtraBold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Roboto-regular.fntdata"/><Relationship Id="rId16" Type="http://schemas.openxmlformats.org/officeDocument/2006/relationships/slide" Target="slides/slide11.xml"/><Relationship Id="rId19" Type="http://schemas.openxmlformats.org/officeDocument/2006/relationships/font" Target="fonts/Roboto-italic.fntdata"/><Relationship Id="rId18" Type="http://schemas.openxmlformats.org/officeDocument/2006/relationships/font" Target="fonts/Roboto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13dfd6aea60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13dfd6aea60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19fa9f219b0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19fa9f219b0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19fa9f219b0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19fa9f219b0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13e65501904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13e65501904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19fa9f219b0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19fa9f219b0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19fa9f219b0_0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19fa9f219b0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19fa9f219b0_0_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19fa9f219b0_0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19fa9f219b0_0_1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19fa9f219b0_0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19fa9f219b0_0_1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19fa9f219b0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13e65501904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13e65501904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20.png"/><Relationship Id="rId6" Type="http://schemas.openxmlformats.org/officeDocument/2006/relationships/image" Target="../media/image1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13.png"/><Relationship Id="rId6" Type="http://schemas.openxmlformats.org/officeDocument/2006/relationships/image" Target="../media/image6.png"/><Relationship Id="rId7" Type="http://schemas.openxmlformats.org/officeDocument/2006/relationships/image" Target="../media/image19.png"/><Relationship Id="rId8" Type="http://schemas.openxmlformats.org/officeDocument/2006/relationships/image" Target="../media/image1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5.jpg"/><Relationship Id="rId5" Type="http://schemas.openxmlformats.org/officeDocument/2006/relationships/image" Target="../media/image1.png"/><Relationship Id="rId6" Type="http://schemas.openxmlformats.org/officeDocument/2006/relationships/image" Target="../media/image11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11.jpg"/><Relationship Id="rId6" Type="http://schemas.openxmlformats.org/officeDocument/2006/relationships/image" Target="../media/image14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11.jpg"/><Relationship Id="rId6" Type="http://schemas.openxmlformats.org/officeDocument/2006/relationships/image" Target="../media/image7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17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11.jpg"/><Relationship Id="rId6" Type="http://schemas.openxmlformats.org/officeDocument/2006/relationships/image" Target="../media/image4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8.png"/><Relationship Id="rId6" Type="http://schemas.openxmlformats.org/officeDocument/2006/relationships/image" Target="../media/image16.png"/><Relationship Id="rId7" Type="http://schemas.openxmlformats.org/officeDocument/2006/relationships/image" Target="../media/image9.jpg"/><Relationship Id="rId8" Type="http://schemas.openxmlformats.org/officeDocument/2006/relationships/image" Target="../media/image1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6705798">
            <a:off x="-367146" y="141999"/>
            <a:ext cx="1665322" cy="1665322"/>
          </a:xfrm>
          <a:prstGeom prst="rect">
            <a:avLst/>
          </a:prstGeom>
          <a:noFill/>
          <a:ln>
            <a:noFill/>
          </a:ln>
        </p:spPr>
      </p:pic>
      <p:pic>
        <p:nvPicPr>
          <p:cNvPr id="55" name="Google Shape;55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018900" y="-606125"/>
            <a:ext cx="2719476" cy="6571628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3"/>
          <p:cNvSpPr txBox="1"/>
          <p:nvPr>
            <p:ph type="ctrTitle"/>
          </p:nvPr>
        </p:nvSpPr>
        <p:spPr>
          <a:xfrm>
            <a:off x="488350" y="2250675"/>
            <a:ext cx="7348500" cy="188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4400">
                <a:latin typeface="Poppins ExtraBold"/>
                <a:ea typeface="Poppins ExtraBold"/>
                <a:cs typeface="Poppins ExtraBold"/>
                <a:sym typeface="Poppins ExtraBold"/>
              </a:rPr>
              <a:t>Amazon - Babel + App Training</a:t>
            </a:r>
            <a:endParaRPr i="1" sz="4400"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idx="4294967295" type="ctrTitle"/>
          </p:nvPr>
        </p:nvSpPr>
        <p:spPr>
          <a:xfrm>
            <a:off x="804175" y="370113"/>
            <a:ext cx="7146900" cy="74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4000">
                <a:latin typeface="Poppins ExtraBold"/>
                <a:ea typeface="Poppins ExtraBold"/>
                <a:cs typeface="Poppins ExtraBold"/>
                <a:sym typeface="Poppins ExtraBold"/>
              </a:rPr>
              <a:t>Babel + App</a:t>
            </a:r>
            <a:endParaRPr i="1" sz="4000"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pic>
        <p:nvPicPr>
          <p:cNvPr id="62" name="Google Shape;6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6705816">
            <a:off x="8387238" y="3932044"/>
            <a:ext cx="884675" cy="884687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14"/>
          <p:cNvSpPr txBox="1"/>
          <p:nvPr>
            <p:ph idx="4294967295" type="ctrTitle"/>
          </p:nvPr>
        </p:nvSpPr>
        <p:spPr>
          <a:xfrm>
            <a:off x="804175" y="1315875"/>
            <a:ext cx="7146900" cy="306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>
                <a:latin typeface="Poppins"/>
                <a:ea typeface="Poppins"/>
                <a:cs typeface="Poppins"/>
                <a:sym typeface="Poppins"/>
              </a:rPr>
              <a:t>Babel App è uno strumento tecnologico che Amazon mette a disposizione degli istruttori per superare le barriere linguistiche.</a:t>
            </a:r>
            <a:endParaRPr sz="17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7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>
                <a:latin typeface="Poppins"/>
                <a:ea typeface="Poppins"/>
                <a:cs typeface="Poppins"/>
                <a:sym typeface="Poppins"/>
              </a:rPr>
              <a:t>Grazie a questa app, la sessione di apprendimento viene tradotta istantaneamente in più di 25 lingue e i conducenti possono leggere/ascoltare le lezioni simultaneamente nella loro lingua.</a:t>
            </a:r>
            <a:endParaRPr sz="17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7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>
                <a:latin typeface="Poppins"/>
                <a:ea typeface="Poppins"/>
                <a:cs typeface="Poppins"/>
                <a:sym typeface="Poppins"/>
              </a:rPr>
              <a:t>Gli autisti di Amazon utilizzano questa app durante il training mattutino.</a:t>
            </a:r>
            <a:endParaRPr sz="17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64" name="Google Shape;6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6705816">
            <a:off x="-212987" y="298719"/>
            <a:ext cx="884675" cy="884687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14"/>
          <p:cNvPicPr preferRelativeResize="0"/>
          <p:nvPr/>
        </p:nvPicPr>
        <p:blipFill rotWithShape="1">
          <a:blip r:embed="rId4">
            <a:alphaModFix/>
          </a:blip>
          <a:srcRect b="0" l="0" r="0" t="4123"/>
          <a:stretch/>
        </p:blipFill>
        <p:spPr>
          <a:xfrm>
            <a:off x="8324150" y="0"/>
            <a:ext cx="819850" cy="79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/>
          <p:nvPr>
            <p:ph idx="4294967295" type="ctrTitle"/>
          </p:nvPr>
        </p:nvSpPr>
        <p:spPr>
          <a:xfrm>
            <a:off x="804175" y="370113"/>
            <a:ext cx="7146900" cy="74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4000">
                <a:latin typeface="Poppins ExtraBold"/>
                <a:ea typeface="Poppins ExtraBold"/>
                <a:cs typeface="Poppins ExtraBold"/>
                <a:sym typeface="Poppins ExtraBold"/>
              </a:rPr>
              <a:t>Download App - Android</a:t>
            </a:r>
            <a:endParaRPr i="1" sz="4000"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pic>
        <p:nvPicPr>
          <p:cNvPr id="71" name="Google Shape;71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6705816">
            <a:off x="8387238" y="3932044"/>
            <a:ext cx="884675" cy="884687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15"/>
          <p:cNvSpPr txBox="1"/>
          <p:nvPr>
            <p:ph idx="4294967295" type="ctrTitle"/>
          </p:nvPr>
        </p:nvSpPr>
        <p:spPr>
          <a:xfrm>
            <a:off x="804175" y="1112025"/>
            <a:ext cx="7146900" cy="306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Poppins"/>
                <a:ea typeface="Poppins"/>
                <a:cs typeface="Poppins"/>
                <a:sym typeface="Poppins"/>
              </a:rPr>
              <a:t>Scansionare il codice QR e scaricare l'applicazione dal Play Store.</a:t>
            </a:r>
            <a:endParaRPr sz="1200"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73" name="Google Shape;73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6705816">
            <a:off x="-212987" y="298719"/>
            <a:ext cx="884675" cy="884687"/>
          </a:xfrm>
          <a:prstGeom prst="rect">
            <a:avLst/>
          </a:prstGeom>
          <a:noFill/>
          <a:ln>
            <a:noFill/>
          </a:ln>
        </p:spPr>
      </p:pic>
      <p:pic>
        <p:nvPicPr>
          <p:cNvPr id="74" name="Google Shape;74;p15"/>
          <p:cNvPicPr preferRelativeResize="0"/>
          <p:nvPr/>
        </p:nvPicPr>
        <p:blipFill rotWithShape="1">
          <a:blip r:embed="rId4">
            <a:alphaModFix/>
          </a:blip>
          <a:srcRect b="0" l="0" r="0" t="4123"/>
          <a:stretch/>
        </p:blipFill>
        <p:spPr>
          <a:xfrm>
            <a:off x="8324150" y="0"/>
            <a:ext cx="819850" cy="79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5" name="Google Shape;75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123525" y="2441000"/>
            <a:ext cx="2508200" cy="2508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6" name="Google Shape;76;p1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100513" y="1684050"/>
            <a:ext cx="554225" cy="6593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6"/>
          <p:cNvSpPr txBox="1"/>
          <p:nvPr>
            <p:ph idx="4294967295" type="ctrTitle"/>
          </p:nvPr>
        </p:nvSpPr>
        <p:spPr>
          <a:xfrm>
            <a:off x="804175" y="370113"/>
            <a:ext cx="7146900" cy="74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4000">
                <a:latin typeface="Poppins ExtraBold"/>
                <a:ea typeface="Poppins ExtraBold"/>
                <a:cs typeface="Poppins ExtraBold"/>
                <a:sym typeface="Poppins ExtraBold"/>
              </a:rPr>
              <a:t>Download App - iOS Apple</a:t>
            </a:r>
            <a:endParaRPr i="1" sz="4000"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pic>
        <p:nvPicPr>
          <p:cNvPr id="82" name="Google Shape;8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6705816">
            <a:off x="8387238" y="3932044"/>
            <a:ext cx="884675" cy="884687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6"/>
          <p:cNvSpPr txBox="1"/>
          <p:nvPr>
            <p:ph idx="4294967295" type="ctrTitle"/>
          </p:nvPr>
        </p:nvSpPr>
        <p:spPr>
          <a:xfrm>
            <a:off x="804175" y="1112025"/>
            <a:ext cx="7146900" cy="306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oppins"/>
              <a:buAutoNum type="arabicPeriod"/>
            </a:pPr>
            <a:r>
              <a:rPr lang="en" sz="1400">
                <a:latin typeface="Poppins"/>
                <a:ea typeface="Poppins"/>
                <a:cs typeface="Poppins"/>
                <a:sym typeface="Poppins"/>
              </a:rPr>
              <a:t>Scansionare il primo codice QR, scaricare l'applicazione dall'Apple Store e chiuderla.</a:t>
            </a:r>
            <a:endParaRPr sz="1400"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oppins"/>
              <a:buAutoNum type="arabicPeriod"/>
            </a:pPr>
            <a:r>
              <a:rPr lang="en" sz="1400">
                <a:latin typeface="Poppins"/>
                <a:ea typeface="Poppins"/>
                <a:cs typeface="Poppins"/>
                <a:sym typeface="Poppins"/>
              </a:rPr>
              <a:t>Scansionare il 2° codice QR e scaricare babel translator</a:t>
            </a:r>
            <a:endParaRPr sz="1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84" name="Google Shape;84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6705816">
            <a:off x="-212987" y="298719"/>
            <a:ext cx="884675" cy="884687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6"/>
          <p:cNvPicPr preferRelativeResize="0"/>
          <p:nvPr/>
        </p:nvPicPr>
        <p:blipFill rotWithShape="1">
          <a:blip r:embed="rId4">
            <a:alphaModFix/>
          </a:blip>
          <a:srcRect b="0" l="0" r="0" t="4123"/>
          <a:stretch/>
        </p:blipFill>
        <p:spPr>
          <a:xfrm>
            <a:off x="8324150" y="0"/>
            <a:ext cx="819850" cy="79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486875" y="2722325"/>
            <a:ext cx="2255475" cy="2266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1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012900" y="2728025"/>
            <a:ext cx="2255476" cy="225547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8" name="Google Shape;88;p16"/>
          <p:cNvCxnSpPr/>
          <p:nvPr/>
        </p:nvCxnSpPr>
        <p:spPr>
          <a:xfrm>
            <a:off x="4003675" y="3799575"/>
            <a:ext cx="747900" cy="5700"/>
          </a:xfrm>
          <a:prstGeom prst="straightConnector1">
            <a:avLst/>
          </a:prstGeom>
          <a:noFill/>
          <a:ln cap="flat" cmpd="sng" w="38100">
            <a:solidFill>
              <a:srgbClr val="FF4B4B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9" name="Google Shape;89;p16"/>
          <p:cNvSpPr txBox="1"/>
          <p:nvPr/>
        </p:nvSpPr>
        <p:spPr>
          <a:xfrm>
            <a:off x="1121475" y="2728025"/>
            <a:ext cx="3654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1.</a:t>
            </a:r>
            <a:endParaRPr/>
          </a:p>
        </p:txBody>
      </p:sp>
      <p:sp>
        <p:nvSpPr>
          <p:cNvPr id="90" name="Google Shape;90;p16"/>
          <p:cNvSpPr txBox="1"/>
          <p:nvPr/>
        </p:nvSpPr>
        <p:spPr>
          <a:xfrm>
            <a:off x="4647500" y="2728025"/>
            <a:ext cx="3654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2</a:t>
            </a: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endParaRPr/>
          </a:p>
        </p:txBody>
      </p:sp>
      <p:pic>
        <p:nvPicPr>
          <p:cNvPr id="91" name="Google Shape;91;p1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374850" y="2124125"/>
            <a:ext cx="479524" cy="479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6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852703" y="2027775"/>
            <a:ext cx="575875" cy="575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Google Shape;97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6705816">
            <a:off x="-212987" y="298719"/>
            <a:ext cx="884675" cy="884687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7"/>
          <p:cNvSpPr txBox="1"/>
          <p:nvPr>
            <p:ph idx="4294967295" type="ctrTitle"/>
          </p:nvPr>
        </p:nvSpPr>
        <p:spPr>
          <a:xfrm>
            <a:off x="804175" y="340950"/>
            <a:ext cx="7146900" cy="74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4000">
                <a:latin typeface="Poppins ExtraBold"/>
                <a:ea typeface="Poppins ExtraBold"/>
                <a:cs typeface="Poppins ExtraBold"/>
                <a:sym typeface="Poppins ExtraBold"/>
              </a:rPr>
              <a:t>Registrazione</a:t>
            </a:r>
            <a:endParaRPr i="1" sz="4000">
              <a:latin typeface="Poppins ExtraBold"/>
              <a:ea typeface="Poppins ExtraBold"/>
              <a:cs typeface="Poppins ExtraBold"/>
              <a:sym typeface="Poppins ExtraBold"/>
            </a:endParaRPr>
          </a:p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4000"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pic>
        <p:nvPicPr>
          <p:cNvPr id="99" name="Google Shape;99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6705816">
            <a:off x="8501538" y="3942444"/>
            <a:ext cx="884675" cy="884687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7"/>
          <p:cNvSpPr txBox="1"/>
          <p:nvPr>
            <p:ph idx="4294967295" type="ctrTitle"/>
          </p:nvPr>
        </p:nvSpPr>
        <p:spPr>
          <a:xfrm>
            <a:off x="5223400" y="2049150"/>
            <a:ext cx="3847800" cy="184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4B4B"/>
              </a:buClr>
              <a:buSzPts val="1500"/>
              <a:buFont typeface="Poppins"/>
              <a:buAutoNum type="arabicPeriod"/>
            </a:pPr>
            <a:r>
              <a:rPr lang="en" sz="1500">
                <a:latin typeface="Poppins"/>
                <a:ea typeface="Poppins"/>
                <a:cs typeface="Poppins"/>
                <a:sym typeface="Poppins"/>
              </a:rPr>
              <a:t>Aprire l'applicazione Babbel</a:t>
            </a:r>
            <a:endParaRPr sz="1500">
              <a:latin typeface="Poppins"/>
              <a:ea typeface="Poppins"/>
              <a:cs typeface="Poppins"/>
              <a:sym typeface="Poppins"/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4B4B"/>
              </a:buClr>
              <a:buSzPts val="1500"/>
              <a:buFont typeface="Poppins"/>
              <a:buAutoNum type="arabicPeriod"/>
            </a:pPr>
            <a:r>
              <a:rPr lang="en" sz="1500">
                <a:latin typeface="Poppins"/>
                <a:ea typeface="Poppins"/>
                <a:cs typeface="Poppins"/>
                <a:sym typeface="Poppins"/>
              </a:rPr>
              <a:t>Inserire il proprio nome/cognome</a:t>
            </a:r>
            <a:endParaRPr sz="1500">
              <a:latin typeface="Poppins"/>
              <a:ea typeface="Poppins"/>
              <a:cs typeface="Poppins"/>
              <a:sym typeface="Poppins"/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4B4B"/>
              </a:buClr>
              <a:buSzPts val="1500"/>
              <a:buFont typeface="Poppins"/>
              <a:buAutoNum type="arabicPeriod"/>
            </a:pPr>
            <a:r>
              <a:rPr lang="en" sz="1500">
                <a:latin typeface="Poppins"/>
                <a:ea typeface="Poppins"/>
                <a:cs typeface="Poppins"/>
                <a:sym typeface="Poppins"/>
              </a:rPr>
              <a:t>Selezionare la lingua dell'applicazione </a:t>
            </a:r>
            <a:endParaRPr sz="1500">
              <a:latin typeface="Poppins"/>
              <a:ea typeface="Poppins"/>
              <a:cs typeface="Poppins"/>
              <a:sym typeface="Poppins"/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4B4B"/>
              </a:buClr>
              <a:buSzPts val="1500"/>
              <a:buFont typeface="Poppins"/>
              <a:buAutoNum type="arabicPeriod"/>
            </a:pPr>
            <a:r>
              <a:rPr lang="en" sz="1500">
                <a:latin typeface="Poppins"/>
                <a:ea typeface="Poppins"/>
                <a:cs typeface="Poppins"/>
                <a:sym typeface="Poppins"/>
              </a:rPr>
              <a:t>Fare clic su " Inserisci "</a:t>
            </a:r>
            <a:endParaRPr sz="1500">
              <a:latin typeface="Poppins"/>
              <a:ea typeface="Poppins"/>
              <a:cs typeface="Poppins"/>
              <a:sym typeface="Poppins"/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4B4B"/>
              </a:buClr>
              <a:buSzPts val="1500"/>
              <a:buFont typeface="Poppins"/>
              <a:buAutoNum type="arabicPeriod"/>
            </a:pPr>
            <a:r>
              <a:rPr lang="en" sz="1500">
                <a:latin typeface="Poppins"/>
                <a:ea typeface="Poppins"/>
                <a:cs typeface="Poppins"/>
                <a:sym typeface="Poppins"/>
              </a:rPr>
              <a:t>Verrete reindirizzati alla pagina iniziale</a:t>
            </a:r>
            <a:endParaRPr sz="15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Poppins"/>
                <a:ea typeface="Poppins"/>
                <a:cs typeface="Poppins"/>
                <a:sym typeface="Poppins"/>
              </a:rPr>
              <a:t> </a:t>
            </a:r>
            <a:endParaRPr sz="1500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01" name="Google Shape;101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04176" y="1257100"/>
            <a:ext cx="1646275" cy="3564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7"/>
          <p:cNvPicPr preferRelativeResize="0"/>
          <p:nvPr/>
        </p:nvPicPr>
        <p:blipFill rotWithShape="1">
          <a:blip r:embed="rId5">
            <a:alphaModFix/>
          </a:blip>
          <a:srcRect b="0" l="0" r="0" t="4123"/>
          <a:stretch/>
        </p:blipFill>
        <p:spPr>
          <a:xfrm>
            <a:off x="8324150" y="0"/>
            <a:ext cx="819850" cy="79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309475" y="1257047"/>
            <a:ext cx="1646275" cy="356405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4" name="Google Shape;104;p17"/>
          <p:cNvCxnSpPr>
            <a:stCxn id="101" idx="3"/>
            <a:endCxn id="103" idx="1"/>
          </p:cNvCxnSpPr>
          <p:nvPr/>
        </p:nvCxnSpPr>
        <p:spPr>
          <a:xfrm>
            <a:off x="2450451" y="3039101"/>
            <a:ext cx="858900" cy="0"/>
          </a:xfrm>
          <a:prstGeom prst="straightConnector1">
            <a:avLst/>
          </a:prstGeom>
          <a:noFill/>
          <a:ln cap="flat" cmpd="sng" w="38100">
            <a:solidFill>
              <a:srgbClr val="FF4B4B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5" name="Google Shape;105;p17"/>
          <p:cNvSpPr txBox="1"/>
          <p:nvPr/>
        </p:nvSpPr>
        <p:spPr>
          <a:xfrm>
            <a:off x="968513" y="4821100"/>
            <a:ext cx="1317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Registration page</a:t>
            </a:r>
            <a:endParaRPr sz="1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6" name="Google Shape;106;p17"/>
          <p:cNvSpPr txBox="1"/>
          <p:nvPr/>
        </p:nvSpPr>
        <p:spPr>
          <a:xfrm>
            <a:off x="3473800" y="4804800"/>
            <a:ext cx="1317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Home-page</a:t>
            </a:r>
            <a:endParaRPr sz="1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Google Shape;111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6705816">
            <a:off x="-212987" y="298719"/>
            <a:ext cx="884675" cy="884687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8"/>
          <p:cNvSpPr txBox="1"/>
          <p:nvPr>
            <p:ph idx="4294967295" type="ctrTitle"/>
          </p:nvPr>
        </p:nvSpPr>
        <p:spPr>
          <a:xfrm>
            <a:off x="804175" y="340950"/>
            <a:ext cx="7146900" cy="74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4000">
                <a:latin typeface="Poppins ExtraBold"/>
                <a:ea typeface="Poppins ExtraBold"/>
                <a:cs typeface="Poppins ExtraBold"/>
                <a:sym typeface="Poppins ExtraBold"/>
              </a:rPr>
              <a:t>Impostazioni Babel +</a:t>
            </a:r>
            <a:endParaRPr i="1" sz="4000">
              <a:latin typeface="Poppins ExtraBold"/>
              <a:ea typeface="Poppins ExtraBold"/>
              <a:cs typeface="Poppins ExtraBold"/>
              <a:sym typeface="Poppins ExtraBold"/>
            </a:endParaRPr>
          </a:p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4000"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pic>
        <p:nvPicPr>
          <p:cNvPr id="113" name="Google Shape;113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6705816">
            <a:off x="8544413" y="4126344"/>
            <a:ext cx="884675" cy="884687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8"/>
          <p:cNvSpPr txBox="1"/>
          <p:nvPr>
            <p:ph idx="4294967295" type="ctrTitle"/>
          </p:nvPr>
        </p:nvSpPr>
        <p:spPr>
          <a:xfrm>
            <a:off x="5103525" y="1315880"/>
            <a:ext cx="4007400" cy="259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latin typeface="Poppins"/>
                <a:ea typeface="Poppins"/>
                <a:cs typeface="Poppins"/>
                <a:sym typeface="Poppins"/>
              </a:rPr>
              <a:t>Nella pagina iniziale, fare clic sulle tre linee in alto a sinistra per aprire la pagina delle impostazioni.</a:t>
            </a:r>
            <a:endParaRPr sz="1200">
              <a:latin typeface="Poppins"/>
              <a:ea typeface="Poppins"/>
              <a:cs typeface="Poppins"/>
              <a:sym typeface="Poppins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4B4B"/>
              </a:buClr>
              <a:buSzPts val="1200"/>
              <a:buFont typeface="Poppins"/>
              <a:buAutoNum type="arabicPeriod"/>
            </a:pPr>
            <a:r>
              <a:rPr lang="en" sz="1200">
                <a:latin typeface="Poppins"/>
                <a:ea typeface="Poppins"/>
                <a:cs typeface="Poppins"/>
                <a:sym typeface="Poppins"/>
              </a:rPr>
              <a:t>Nome: inserire il proprio cognome/nome per la registrazione. </a:t>
            </a:r>
            <a:endParaRPr sz="1200">
              <a:latin typeface="Poppins"/>
              <a:ea typeface="Poppins"/>
              <a:cs typeface="Poppins"/>
              <a:sym typeface="Poppins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4B4B"/>
              </a:buClr>
              <a:buSzPts val="1200"/>
              <a:buFont typeface="Poppins"/>
              <a:buAutoNum type="arabicPeriod"/>
            </a:pPr>
            <a:r>
              <a:rPr lang="en" sz="1200">
                <a:latin typeface="Poppins"/>
                <a:ea typeface="Poppins"/>
                <a:cs typeface="Poppins"/>
                <a:sym typeface="Poppins"/>
              </a:rPr>
              <a:t>La tua lingua: cambia la lingua che vuoi tradurre o parlare.</a:t>
            </a:r>
            <a:endParaRPr sz="1200">
              <a:latin typeface="Poppins"/>
              <a:ea typeface="Poppins"/>
              <a:cs typeface="Poppins"/>
              <a:sym typeface="Poppins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4B4B"/>
              </a:buClr>
              <a:buSzPts val="1200"/>
              <a:buFont typeface="Poppins"/>
              <a:buAutoNum type="arabicPeriod"/>
            </a:pPr>
            <a:r>
              <a:rPr lang="en" sz="1200">
                <a:latin typeface="Poppins"/>
                <a:ea typeface="Poppins"/>
                <a:cs typeface="Poppins"/>
                <a:sym typeface="Poppins"/>
              </a:rPr>
              <a:t>Filtro imprecazioni: elimina le parole volgari.</a:t>
            </a:r>
            <a:endParaRPr sz="1200">
              <a:latin typeface="Poppins"/>
              <a:ea typeface="Poppins"/>
              <a:cs typeface="Poppins"/>
              <a:sym typeface="Poppins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4B4B"/>
              </a:buClr>
              <a:buSzPts val="1200"/>
              <a:buFont typeface="Poppins"/>
              <a:buAutoNum type="arabicPeriod"/>
            </a:pPr>
            <a:r>
              <a:rPr lang="en" sz="1200">
                <a:latin typeface="Poppins"/>
                <a:ea typeface="Poppins"/>
                <a:cs typeface="Poppins"/>
                <a:sym typeface="Poppins"/>
              </a:rPr>
              <a:t>Mostra testo originale: Selezionare questa opzione per visualizzare le traduzioni e il testo in lingua originale.</a:t>
            </a:r>
            <a:endParaRPr sz="1200">
              <a:latin typeface="Poppins"/>
              <a:ea typeface="Poppins"/>
              <a:cs typeface="Poppins"/>
              <a:sym typeface="Poppins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4B4B"/>
              </a:buClr>
              <a:buSzPts val="1200"/>
              <a:buFont typeface="Poppins"/>
              <a:buAutoNum type="arabicPeriod"/>
            </a:pPr>
            <a:r>
              <a:rPr lang="en" sz="1200">
                <a:latin typeface="Poppins"/>
                <a:ea typeface="Poppins"/>
                <a:cs typeface="Poppins"/>
                <a:sym typeface="Poppins"/>
              </a:rPr>
              <a:t>Dimensione del testo del messaggio</a:t>
            </a:r>
            <a:endParaRPr sz="1200"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15" name="Google Shape;115;p18"/>
          <p:cNvPicPr preferRelativeResize="0"/>
          <p:nvPr/>
        </p:nvPicPr>
        <p:blipFill rotWithShape="1">
          <a:blip r:embed="rId4">
            <a:alphaModFix/>
          </a:blip>
          <a:srcRect b="0" l="0" r="0" t="4123"/>
          <a:stretch/>
        </p:blipFill>
        <p:spPr>
          <a:xfrm>
            <a:off x="8324150" y="0"/>
            <a:ext cx="819850" cy="7935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6" name="Google Shape;116;p18"/>
          <p:cNvCxnSpPr>
            <a:stCxn id="117" idx="3"/>
            <a:endCxn id="118" idx="1"/>
          </p:cNvCxnSpPr>
          <p:nvPr/>
        </p:nvCxnSpPr>
        <p:spPr>
          <a:xfrm>
            <a:off x="2450451" y="3039101"/>
            <a:ext cx="858900" cy="0"/>
          </a:xfrm>
          <a:prstGeom prst="straightConnector1">
            <a:avLst/>
          </a:prstGeom>
          <a:noFill/>
          <a:ln cap="flat" cmpd="sng" w="38100">
            <a:solidFill>
              <a:srgbClr val="FF4B4B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9" name="Google Shape;119;p18"/>
          <p:cNvSpPr txBox="1"/>
          <p:nvPr/>
        </p:nvSpPr>
        <p:spPr>
          <a:xfrm>
            <a:off x="968513" y="4821100"/>
            <a:ext cx="1317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Home-page</a:t>
            </a:r>
            <a:endParaRPr sz="1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0" name="Google Shape;120;p18"/>
          <p:cNvSpPr txBox="1"/>
          <p:nvPr/>
        </p:nvSpPr>
        <p:spPr>
          <a:xfrm>
            <a:off x="3473800" y="4804800"/>
            <a:ext cx="1317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Impostazini</a:t>
            </a:r>
            <a:endParaRPr sz="1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21" name="Google Shape;121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04050" y="1257072"/>
            <a:ext cx="1646275" cy="3564052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309475" y="1257050"/>
            <a:ext cx="1646275" cy="3564012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8"/>
          <p:cNvSpPr/>
          <p:nvPr/>
        </p:nvSpPr>
        <p:spPr>
          <a:xfrm>
            <a:off x="804050" y="1438450"/>
            <a:ext cx="278700" cy="273900"/>
          </a:xfrm>
          <a:prstGeom prst="ellipse">
            <a:avLst/>
          </a:prstGeom>
          <a:noFill/>
          <a:ln cap="flat" cmpd="sng" w="28575">
            <a:solidFill>
              <a:srgbClr val="FF4B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6705816">
            <a:off x="-212987" y="298719"/>
            <a:ext cx="884675" cy="884687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9"/>
          <p:cNvSpPr txBox="1"/>
          <p:nvPr>
            <p:ph idx="4294967295" type="ctrTitle"/>
          </p:nvPr>
        </p:nvSpPr>
        <p:spPr>
          <a:xfrm>
            <a:off x="804175" y="340950"/>
            <a:ext cx="7900200" cy="74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3900">
                <a:latin typeface="Poppins ExtraBold"/>
                <a:ea typeface="Poppins ExtraBold"/>
                <a:cs typeface="Poppins ExtraBold"/>
                <a:sym typeface="Poppins ExtraBold"/>
              </a:rPr>
              <a:t>Conversazione Multi-device</a:t>
            </a:r>
            <a:br>
              <a:rPr i="1" lang="en" sz="3900">
                <a:latin typeface="Poppins ExtraBold"/>
                <a:ea typeface="Poppins ExtraBold"/>
                <a:cs typeface="Poppins ExtraBold"/>
                <a:sym typeface="Poppins ExtraBold"/>
              </a:rPr>
            </a:br>
            <a:r>
              <a:rPr i="1" lang="en" sz="1800">
                <a:latin typeface="Poppins ExtraBold"/>
                <a:ea typeface="Poppins ExtraBold"/>
                <a:cs typeface="Poppins ExtraBold"/>
                <a:sym typeface="Poppins ExtraBold"/>
              </a:rPr>
              <a:t>Solo istruttori</a:t>
            </a:r>
            <a:endParaRPr i="1" sz="3900"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sp>
        <p:nvSpPr>
          <p:cNvPr id="130" name="Google Shape;130;p19"/>
          <p:cNvSpPr txBox="1"/>
          <p:nvPr>
            <p:ph idx="4294967295" type="ctrTitle"/>
          </p:nvPr>
        </p:nvSpPr>
        <p:spPr>
          <a:xfrm>
            <a:off x="4995075" y="1315875"/>
            <a:ext cx="4149000" cy="259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Poppins"/>
                <a:ea typeface="Poppins"/>
                <a:cs typeface="Poppins"/>
                <a:sym typeface="Poppins"/>
              </a:rPr>
              <a:t>I formatori possono creare una sessione facendo clic su "Avvia" sotto Conversazione tra più dispositivi.</a:t>
            </a:r>
            <a:endParaRPr sz="1200">
              <a:latin typeface="Poppins"/>
              <a:ea typeface="Poppins"/>
              <a:cs typeface="Poppins"/>
              <a:sym typeface="Poppins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4B4B"/>
              </a:buClr>
              <a:buSzPts val="1200"/>
              <a:buFont typeface="Poppins"/>
              <a:buAutoNum type="arabicPeriod"/>
            </a:pPr>
            <a:r>
              <a:rPr lang="en" sz="1200">
                <a:latin typeface="Poppins"/>
                <a:ea typeface="Poppins"/>
                <a:cs typeface="Poppins"/>
                <a:sym typeface="Poppins"/>
              </a:rPr>
              <a:t>Paese/Regione: selezionare il paese in cui si svolgerà la formazione.</a:t>
            </a:r>
            <a:endParaRPr sz="1200">
              <a:latin typeface="Poppins"/>
              <a:ea typeface="Poppins"/>
              <a:cs typeface="Poppins"/>
              <a:sym typeface="Poppins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4B4B"/>
              </a:buClr>
              <a:buSzPts val="1200"/>
              <a:buFont typeface="Poppins"/>
              <a:buAutoNum type="arabicPeriod"/>
            </a:pPr>
            <a:r>
              <a:rPr lang="en" sz="1200">
                <a:latin typeface="Poppins"/>
                <a:ea typeface="Poppins"/>
                <a:cs typeface="Poppins"/>
                <a:sym typeface="Poppins"/>
              </a:rPr>
              <a:t>Team: selezionare la stazione AMAZON della formazione - AGGIUNGERE CODICE PAESE </a:t>
            </a:r>
            <a:endParaRPr sz="1200">
              <a:latin typeface="Poppins"/>
              <a:ea typeface="Poppins"/>
              <a:cs typeface="Poppins"/>
              <a:sym typeface="Poppins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4B4B"/>
              </a:buClr>
              <a:buSzPts val="1200"/>
              <a:buFont typeface="Poppins"/>
              <a:buAutoNum type="arabicPeriod"/>
            </a:pPr>
            <a:r>
              <a:rPr lang="en" sz="1200">
                <a:latin typeface="Poppins"/>
                <a:ea typeface="Poppins"/>
                <a:cs typeface="Poppins"/>
                <a:sym typeface="Poppins"/>
              </a:rPr>
              <a:t>PIN: TRAINER (tutte le lettere maiuscole)</a:t>
            </a:r>
            <a:endParaRPr sz="1200">
              <a:latin typeface="Poppins"/>
              <a:ea typeface="Poppins"/>
              <a:cs typeface="Poppins"/>
              <a:sym typeface="Poppins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4B4B"/>
              </a:buClr>
              <a:buSzPts val="1200"/>
              <a:buFont typeface="Poppins"/>
              <a:buAutoNum type="arabicPeriod"/>
            </a:pPr>
            <a:r>
              <a:rPr lang="en" sz="1200">
                <a:latin typeface="Poppins"/>
                <a:ea typeface="Poppins"/>
                <a:cs typeface="Poppins"/>
                <a:sym typeface="Poppins"/>
              </a:rPr>
              <a:t>Fare clic su "Avvia".</a:t>
            </a:r>
            <a:endParaRPr sz="12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Poppins"/>
                <a:ea typeface="Poppins"/>
                <a:cs typeface="Poppins"/>
                <a:sym typeface="Poppins"/>
              </a:rPr>
              <a:t>Dopo aver fatto clic su "Avvia", la sessione verrà creata e verrà inserito un codice per ciascun conducente che parteciperà alla sessione.</a:t>
            </a:r>
            <a:endParaRPr sz="12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31" name="Google Shape;131;p19"/>
          <p:cNvPicPr preferRelativeResize="0"/>
          <p:nvPr/>
        </p:nvPicPr>
        <p:blipFill rotWithShape="1">
          <a:blip r:embed="rId4">
            <a:alphaModFix/>
          </a:blip>
          <a:srcRect b="0" l="0" r="0" t="4123"/>
          <a:stretch/>
        </p:blipFill>
        <p:spPr>
          <a:xfrm>
            <a:off x="8324150" y="0"/>
            <a:ext cx="819850" cy="7935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2" name="Google Shape;132;p19"/>
          <p:cNvCxnSpPr>
            <a:stCxn id="133" idx="3"/>
            <a:endCxn id="134" idx="1"/>
          </p:cNvCxnSpPr>
          <p:nvPr/>
        </p:nvCxnSpPr>
        <p:spPr>
          <a:xfrm>
            <a:off x="2450451" y="3039101"/>
            <a:ext cx="858900" cy="0"/>
          </a:xfrm>
          <a:prstGeom prst="straightConnector1">
            <a:avLst/>
          </a:prstGeom>
          <a:noFill/>
          <a:ln cap="flat" cmpd="sng" w="38100">
            <a:solidFill>
              <a:srgbClr val="FF4B4B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5" name="Google Shape;135;p19"/>
          <p:cNvSpPr txBox="1"/>
          <p:nvPr/>
        </p:nvSpPr>
        <p:spPr>
          <a:xfrm>
            <a:off x="968513" y="4821100"/>
            <a:ext cx="1317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Home-page</a:t>
            </a:r>
            <a:endParaRPr sz="1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6" name="Google Shape;136;p19"/>
          <p:cNvSpPr txBox="1"/>
          <p:nvPr/>
        </p:nvSpPr>
        <p:spPr>
          <a:xfrm>
            <a:off x="2905700" y="4804800"/>
            <a:ext cx="22950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Attivazione multi-dispositivo</a:t>
            </a:r>
            <a:endParaRPr sz="1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37" name="Google Shape;137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04050" y="1257072"/>
            <a:ext cx="1646275" cy="3564052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9"/>
          <p:cNvSpPr/>
          <p:nvPr/>
        </p:nvSpPr>
        <p:spPr>
          <a:xfrm>
            <a:off x="784925" y="2129300"/>
            <a:ext cx="1684800" cy="372900"/>
          </a:xfrm>
          <a:prstGeom prst="ellipse">
            <a:avLst/>
          </a:prstGeom>
          <a:noFill/>
          <a:ln cap="flat" cmpd="sng" w="28575">
            <a:solidFill>
              <a:srgbClr val="FF4B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9" name="Google Shape;139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309465" y="1257088"/>
            <a:ext cx="1646275" cy="35640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6705816">
            <a:off x="-212987" y="298719"/>
            <a:ext cx="884675" cy="884687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20"/>
          <p:cNvSpPr txBox="1"/>
          <p:nvPr>
            <p:ph idx="4294967295" type="ctrTitle"/>
          </p:nvPr>
        </p:nvSpPr>
        <p:spPr>
          <a:xfrm>
            <a:off x="804175" y="340950"/>
            <a:ext cx="7433400" cy="74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4000">
                <a:latin typeface="Poppins ExtraBold"/>
                <a:ea typeface="Poppins ExtraBold"/>
                <a:cs typeface="Poppins ExtraBold"/>
                <a:sym typeface="Poppins ExtraBold"/>
              </a:rPr>
              <a:t>CODICE Multi-device</a:t>
            </a:r>
            <a:endParaRPr i="1" sz="4000"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sp>
        <p:nvSpPr>
          <p:cNvPr id="146" name="Google Shape;146;p20"/>
          <p:cNvSpPr txBox="1"/>
          <p:nvPr>
            <p:ph idx="4294967295" type="ctrTitle"/>
          </p:nvPr>
        </p:nvSpPr>
        <p:spPr>
          <a:xfrm>
            <a:off x="4412800" y="1740700"/>
            <a:ext cx="4383000" cy="259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latin typeface="Poppins"/>
                <a:ea typeface="Poppins"/>
                <a:cs typeface="Poppins"/>
                <a:sym typeface="Poppins"/>
              </a:rPr>
              <a:t>Una volta avviata la sessione, sullo schermo apparirà il codice di adesione alla sessione che ogni ciclista deve utilizzare per partecipare alla sessione.</a:t>
            </a:r>
            <a:endParaRPr sz="15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5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latin typeface="Poppins"/>
                <a:ea typeface="Poppins"/>
                <a:cs typeface="Poppins"/>
                <a:sym typeface="Poppins"/>
              </a:rPr>
              <a:t>EX: ZWECG</a:t>
            </a:r>
            <a:endParaRPr sz="15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5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n" sz="1500">
                <a:latin typeface="Poppins"/>
                <a:ea typeface="Poppins"/>
                <a:cs typeface="Poppins"/>
                <a:sym typeface="Poppins"/>
              </a:rPr>
            </a:br>
            <a:endParaRPr sz="1500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47" name="Google Shape;147;p20"/>
          <p:cNvPicPr preferRelativeResize="0"/>
          <p:nvPr/>
        </p:nvPicPr>
        <p:blipFill rotWithShape="1">
          <a:blip r:embed="rId4">
            <a:alphaModFix/>
          </a:blip>
          <a:srcRect b="0" l="0" r="0" t="4123"/>
          <a:stretch/>
        </p:blipFill>
        <p:spPr>
          <a:xfrm>
            <a:off x="8324150" y="0"/>
            <a:ext cx="819850" cy="79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20"/>
          <p:cNvSpPr txBox="1"/>
          <p:nvPr/>
        </p:nvSpPr>
        <p:spPr>
          <a:xfrm>
            <a:off x="1787716" y="4821100"/>
            <a:ext cx="1725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Multi-Device-Sitzung</a:t>
            </a:r>
            <a:endParaRPr sz="1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49" name="Google Shape;149;p20"/>
          <p:cNvSpPr txBox="1"/>
          <p:nvPr/>
        </p:nvSpPr>
        <p:spPr>
          <a:xfrm>
            <a:off x="3473800" y="4804800"/>
            <a:ext cx="1317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50" name="Google Shape;150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827525" y="1257075"/>
            <a:ext cx="1646275" cy="3564024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20"/>
          <p:cNvSpPr/>
          <p:nvPr/>
        </p:nvSpPr>
        <p:spPr>
          <a:xfrm>
            <a:off x="2289174" y="1415600"/>
            <a:ext cx="713700" cy="273900"/>
          </a:xfrm>
          <a:prstGeom prst="ellipse">
            <a:avLst/>
          </a:prstGeom>
          <a:noFill/>
          <a:ln cap="flat" cmpd="sng" w="28575">
            <a:solidFill>
              <a:srgbClr val="FF4B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Google Shape;156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6705816">
            <a:off x="-212987" y="298719"/>
            <a:ext cx="884675" cy="884687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21"/>
          <p:cNvSpPr txBox="1"/>
          <p:nvPr>
            <p:ph idx="4294967295" type="ctrTitle"/>
          </p:nvPr>
        </p:nvSpPr>
        <p:spPr>
          <a:xfrm>
            <a:off x="804175" y="340950"/>
            <a:ext cx="7966200" cy="74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2900">
                <a:latin typeface="Poppins ExtraBold"/>
                <a:ea typeface="Poppins ExtraBold"/>
                <a:cs typeface="Poppins ExtraBold"/>
                <a:sym typeface="Poppins ExtraBold"/>
              </a:rPr>
              <a:t>Un intrattenimento con più dispositivi </a:t>
            </a:r>
            <a:r>
              <a:rPr i="1" lang="en" sz="2900">
                <a:latin typeface="Poppins ExtraBold"/>
                <a:ea typeface="Poppins ExtraBold"/>
                <a:cs typeface="Poppins ExtraBold"/>
                <a:sym typeface="Poppins ExtraBold"/>
              </a:rPr>
              <a:t> </a:t>
            </a:r>
            <a:r>
              <a:rPr i="1" lang="en" sz="1900">
                <a:latin typeface="Poppins ExtraBold"/>
                <a:ea typeface="Poppins ExtraBold"/>
                <a:cs typeface="Poppins ExtraBold"/>
                <a:sym typeface="Poppins ExtraBold"/>
              </a:rPr>
              <a:t>Allievi</a:t>
            </a:r>
            <a:endParaRPr i="1" sz="1800">
              <a:latin typeface="Poppins ExtraBold"/>
              <a:ea typeface="Poppins ExtraBold"/>
              <a:cs typeface="Poppins ExtraBold"/>
              <a:sym typeface="Poppins ExtraBold"/>
            </a:endParaRPr>
          </a:p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3900"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sp>
        <p:nvSpPr>
          <p:cNvPr id="158" name="Google Shape;158;p21"/>
          <p:cNvSpPr txBox="1"/>
          <p:nvPr>
            <p:ph idx="4294967295" type="ctrTitle"/>
          </p:nvPr>
        </p:nvSpPr>
        <p:spPr>
          <a:xfrm>
            <a:off x="4995075" y="1315875"/>
            <a:ext cx="4149000" cy="259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Poppins"/>
                <a:ea typeface="Poppins"/>
                <a:cs typeface="Poppins"/>
                <a:sym typeface="Poppins"/>
              </a:rPr>
              <a:t>Consegnare il codice della sessione a ciascun conducente</a:t>
            </a:r>
            <a:endParaRPr sz="1200">
              <a:latin typeface="Poppins"/>
              <a:ea typeface="Poppins"/>
              <a:cs typeface="Poppins"/>
              <a:sym typeface="Poppins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4B4B"/>
              </a:buClr>
              <a:buSzPts val="1200"/>
              <a:buFont typeface="Poppins"/>
              <a:buAutoNum type="arabicPeriod"/>
            </a:pPr>
            <a:r>
              <a:rPr lang="en" sz="1200">
                <a:latin typeface="Poppins"/>
                <a:ea typeface="Poppins"/>
                <a:cs typeface="Poppins"/>
                <a:sym typeface="Poppins"/>
              </a:rPr>
              <a:t>Il conducente inserisce il codice (ad esempio, ILYXG) e fa clic su "Partecipa" per partecipare alle sessioni.</a:t>
            </a:r>
            <a:endParaRPr sz="1200">
              <a:latin typeface="Poppins"/>
              <a:ea typeface="Poppins"/>
              <a:cs typeface="Poppins"/>
              <a:sym typeface="Poppins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4B4B"/>
              </a:buClr>
              <a:buSzPts val="1200"/>
              <a:buFont typeface="Poppins"/>
              <a:buAutoNum type="arabicPeriod"/>
            </a:pPr>
            <a:r>
              <a:rPr lang="en" sz="1200">
                <a:latin typeface="Poppins"/>
                <a:ea typeface="Poppins"/>
                <a:cs typeface="Poppins"/>
                <a:sym typeface="Poppins"/>
              </a:rPr>
              <a:t>Man mano che i piloti si uniscono, si vedranno i loro nomi di registrazione nella conversazione.</a:t>
            </a:r>
            <a:endParaRPr sz="12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latin typeface="Poppins"/>
                <a:ea typeface="Poppins"/>
                <a:cs typeface="Poppins"/>
                <a:sym typeface="Poppins"/>
              </a:rPr>
              <a:t>Dopo aver fatto clic su "Inizia", la sessione viene creata e ogni pilota riceve un codice per partecipare alla sessione.</a:t>
            </a:r>
            <a:endParaRPr sz="12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59" name="Google Shape;159;p21"/>
          <p:cNvPicPr preferRelativeResize="0"/>
          <p:nvPr/>
        </p:nvPicPr>
        <p:blipFill rotWithShape="1">
          <a:blip r:embed="rId4">
            <a:alphaModFix/>
          </a:blip>
          <a:srcRect b="0" l="0" r="0" t="4123"/>
          <a:stretch/>
        </p:blipFill>
        <p:spPr>
          <a:xfrm>
            <a:off x="8324150" y="0"/>
            <a:ext cx="819850" cy="7935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0" name="Google Shape;160;p21"/>
          <p:cNvCxnSpPr>
            <a:stCxn id="161" idx="3"/>
            <a:endCxn id="162" idx="1"/>
          </p:cNvCxnSpPr>
          <p:nvPr/>
        </p:nvCxnSpPr>
        <p:spPr>
          <a:xfrm>
            <a:off x="2450451" y="3039101"/>
            <a:ext cx="858900" cy="0"/>
          </a:xfrm>
          <a:prstGeom prst="straightConnector1">
            <a:avLst/>
          </a:prstGeom>
          <a:noFill/>
          <a:ln cap="flat" cmpd="sng" w="38100">
            <a:solidFill>
              <a:srgbClr val="FF4B4B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63" name="Google Shape;163;p21"/>
          <p:cNvSpPr txBox="1"/>
          <p:nvPr/>
        </p:nvSpPr>
        <p:spPr>
          <a:xfrm>
            <a:off x="968513" y="4821100"/>
            <a:ext cx="1317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Home-page</a:t>
            </a:r>
            <a:endParaRPr sz="1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64" name="Google Shape;164;p21"/>
          <p:cNvSpPr txBox="1"/>
          <p:nvPr/>
        </p:nvSpPr>
        <p:spPr>
          <a:xfrm>
            <a:off x="2502813" y="4821125"/>
            <a:ext cx="32988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Conversazione multi-dispositivo</a:t>
            </a:r>
            <a:endParaRPr sz="1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65" name="Google Shape;165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04050" y="1257072"/>
            <a:ext cx="1646275" cy="3564052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21"/>
          <p:cNvSpPr/>
          <p:nvPr/>
        </p:nvSpPr>
        <p:spPr>
          <a:xfrm>
            <a:off x="804175" y="2346225"/>
            <a:ext cx="1049700" cy="372900"/>
          </a:xfrm>
          <a:prstGeom prst="ellipse">
            <a:avLst/>
          </a:prstGeom>
          <a:noFill/>
          <a:ln cap="flat" cmpd="sng" w="28575">
            <a:solidFill>
              <a:srgbClr val="FF4B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67" name="Google Shape;167;p2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335701" y="1271425"/>
            <a:ext cx="1633024" cy="3535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2" name="Google Shape;172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6705816">
            <a:off x="-212987" y="298719"/>
            <a:ext cx="884675" cy="884687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22"/>
          <p:cNvSpPr txBox="1"/>
          <p:nvPr>
            <p:ph idx="4294967295" type="ctrTitle"/>
          </p:nvPr>
        </p:nvSpPr>
        <p:spPr>
          <a:xfrm>
            <a:off x="804175" y="340950"/>
            <a:ext cx="7433400" cy="74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4000">
                <a:latin typeface="Poppins ExtraBold"/>
                <a:ea typeface="Poppins ExtraBold"/>
                <a:cs typeface="Poppins ExtraBold"/>
                <a:sym typeface="Poppins ExtraBold"/>
              </a:rPr>
              <a:t>Come Usare Babel+</a:t>
            </a:r>
            <a:endParaRPr i="1" sz="4000"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sp>
        <p:nvSpPr>
          <p:cNvPr id="174" name="Google Shape;174;p22"/>
          <p:cNvSpPr txBox="1"/>
          <p:nvPr>
            <p:ph idx="4294967295" type="ctrTitle"/>
          </p:nvPr>
        </p:nvSpPr>
        <p:spPr>
          <a:xfrm>
            <a:off x="4304325" y="1315875"/>
            <a:ext cx="4647000" cy="305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Poppins"/>
                <a:ea typeface="Poppins"/>
                <a:cs typeface="Poppins"/>
                <a:sym typeface="Poppins"/>
              </a:rPr>
              <a:t>Una volta avviata la sessione e collegati gli allievi driver:</a:t>
            </a:r>
            <a:endParaRPr sz="1200">
              <a:latin typeface="Poppins"/>
              <a:ea typeface="Poppins"/>
              <a:cs typeface="Poppins"/>
              <a:sym typeface="Poppins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4B4B"/>
              </a:buClr>
              <a:buSzPts val="1200"/>
              <a:buFont typeface="Poppins"/>
              <a:buAutoNum type="arabicPeriod"/>
            </a:pPr>
            <a:r>
              <a:rPr lang="en" sz="1200">
                <a:latin typeface="Poppins"/>
                <a:ea typeface="Poppins"/>
                <a:cs typeface="Poppins"/>
                <a:sym typeface="Poppins"/>
              </a:rPr>
              <a:t>Fare clic sul microfono in basso a sinistra e iniziare a parlare.</a:t>
            </a:r>
            <a:endParaRPr sz="1200">
              <a:latin typeface="Poppins"/>
              <a:ea typeface="Poppins"/>
              <a:cs typeface="Poppins"/>
              <a:sym typeface="Poppins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4B4B"/>
              </a:buClr>
              <a:buSzPts val="1200"/>
              <a:buFont typeface="Poppins"/>
              <a:buAutoNum type="arabicPeriod"/>
            </a:pPr>
            <a:r>
              <a:rPr lang="en" sz="1200">
                <a:latin typeface="Poppins"/>
                <a:ea typeface="Poppins"/>
                <a:cs typeface="Poppins"/>
                <a:sym typeface="Poppins"/>
              </a:rPr>
              <a:t>Fare nuovamente clic al termine per consentire agli altri partecipanti di parlare. </a:t>
            </a:r>
            <a:endParaRPr sz="1200">
              <a:latin typeface="Poppins"/>
              <a:ea typeface="Poppins"/>
              <a:cs typeface="Poppins"/>
              <a:sym typeface="Poppins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4B4B"/>
              </a:buClr>
              <a:buSzPts val="1200"/>
              <a:buFont typeface="Poppins"/>
              <a:buAutoNum type="arabicPeriod"/>
            </a:pPr>
            <a:r>
              <a:rPr lang="en" sz="1200">
                <a:latin typeface="Poppins"/>
                <a:ea typeface="Poppins"/>
                <a:cs typeface="Poppins"/>
                <a:sym typeface="Poppins"/>
              </a:rPr>
              <a:t>Fare clic sulla tastiera per scrivere e tradurre </a:t>
            </a:r>
            <a:br>
              <a:rPr lang="en" sz="1200">
                <a:latin typeface="Poppins"/>
                <a:ea typeface="Poppins"/>
                <a:cs typeface="Poppins"/>
                <a:sym typeface="Poppins"/>
              </a:rPr>
            </a:br>
            <a:r>
              <a:rPr lang="en" sz="1200">
                <a:latin typeface="Poppins"/>
                <a:ea typeface="Poppins"/>
                <a:cs typeface="Poppins"/>
                <a:sym typeface="Poppins"/>
              </a:rPr>
              <a:t>le frasi.</a:t>
            </a:r>
            <a:endParaRPr sz="1200">
              <a:latin typeface="Poppins"/>
              <a:ea typeface="Poppins"/>
              <a:cs typeface="Poppins"/>
              <a:sym typeface="Poppins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4B4B"/>
              </a:buClr>
              <a:buSzPts val="1200"/>
              <a:buFont typeface="Poppins"/>
              <a:buAutoNum type="arabicPeriod"/>
            </a:pPr>
            <a:r>
              <a:rPr lang="en" sz="1200">
                <a:latin typeface="Poppins"/>
                <a:ea typeface="Poppins"/>
                <a:cs typeface="Poppins"/>
                <a:sym typeface="Poppins"/>
              </a:rPr>
              <a:t>Fare clic sull'icona Aggiungi membro in basso per generare un codice QR che consenta ai conducenti di partecipare alla sessione.</a:t>
            </a:r>
            <a:endParaRPr sz="1200">
              <a:latin typeface="Poppins"/>
              <a:ea typeface="Poppins"/>
              <a:cs typeface="Poppins"/>
              <a:sym typeface="Poppins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4B4B"/>
              </a:buClr>
              <a:buSzPts val="1200"/>
              <a:buFont typeface="Poppins"/>
              <a:buAutoNum type="arabicPeriod"/>
            </a:pPr>
            <a:r>
              <a:rPr lang="en" sz="1200">
                <a:latin typeface="Poppins"/>
                <a:ea typeface="Poppins"/>
                <a:cs typeface="Poppins"/>
                <a:sym typeface="Poppins"/>
              </a:rPr>
              <a:t>Fare clic sulla ruota dentata per aprire le impostazioni - attivare la modalità lingua</a:t>
            </a:r>
            <a:endParaRPr sz="12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75" name="Google Shape;175;p22"/>
          <p:cNvPicPr preferRelativeResize="0"/>
          <p:nvPr/>
        </p:nvPicPr>
        <p:blipFill rotWithShape="1">
          <a:blip r:embed="rId4">
            <a:alphaModFix/>
          </a:blip>
          <a:srcRect b="0" l="0" r="0" t="4123"/>
          <a:stretch/>
        </p:blipFill>
        <p:spPr>
          <a:xfrm>
            <a:off x="8324150" y="0"/>
            <a:ext cx="819850" cy="79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22"/>
          <p:cNvSpPr txBox="1"/>
          <p:nvPr/>
        </p:nvSpPr>
        <p:spPr>
          <a:xfrm>
            <a:off x="1657463" y="4804800"/>
            <a:ext cx="2295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Multi-Geräte-Aktivierung</a:t>
            </a:r>
            <a:endParaRPr sz="1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77" name="Google Shape;177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485925" y="1887226"/>
            <a:ext cx="278500" cy="278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22"/>
          <p:cNvPicPr preferRelativeResize="0"/>
          <p:nvPr/>
        </p:nvPicPr>
        <p:blipFill rotWithShape="1">
          <a:blip r:embed="rId6">
            <a:alphaModFix/>
          </a:blip>
          <a:srcRect b="0" l="0" r="11095" t="0"/>
          <a:stretch/>
        </p:blipFill>
        <p:spPr>
          <a:xfrm>
            <a:off x="5447325" y="3002825"/>
            <a:ext cx="355675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2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945363" y="1128525"/>
            <a:ext cx="1719213" cy="3721948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22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8055775" y="4325552"/>
            <a:ext cx="304800" cy="323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5" name="Google Shape;185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6705809">
            <a:off x="8085147" y="4097305"/>
            <a:ext cx="1262532" cy="1262544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23"/>
          <p:cNvSpPr txBox="1"/>
          <p:nvPr>
            <p:ph idx="4294967295" type="ctrTitle"/>
          </p:nvPr>
        </p:nvSpPr>
        <p:spPr>
          <a:xfrm>
            <a:off x="894575" y="688275"/>
            <a:ext cx="7271700" cy="74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4000">
                <a:latin typeface="Poppins ExtraBold"/>
                <a:ea typeface="Poppins ExtraBold"/>
                <a:cs typeface="Poppins ExtraBold"/>
                <a:sym typeface="Poppins ExtraBold"/>
              </a:rPr>
              <a:t>Consigli Babel</a:t>
            </a:r>
            <a:endParaRPr i="1" sz="4000"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sp>
        <p:nvSpPr>
          <p:cNvPr id="187" name="Google Shape;187;p23"/>
          <p:cNvSpPr txBox="1"/>
          <p:nvPr>
            <p:ph idx="4294967295" type="ctrTitle"/>
          </p:nvPr>
        </p:nvSpPr>
        <p:spPr>
          <a:xfrm>
            <a:off x="3422425" y="2200225"/>
            <a:ext cx="2379600" cy="131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latin typeface="Poppins"/>
                <a:ea typeface="Poppins"/>
                <a:cs typeface="Poppins"/>
                <a:sym typeface="Poppins"/>
              </a:rPr>
              <a:t>Non è necessario accendere e spegnere il microfono dopo ogni frase.</a:t>
            </a:r>
            <a:endParaRPr sz="12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latin typeface="Poppins"/>
                <a:ea typeface="Poppins"/>
                <a:cs typeface="Poppins"/>
                <a:sym typeface="Poppins"/>
              </a:rPr>
              <a:t>Lasciatelo acceso finché non finite la vostra frase o finché l'autista non vi fa delle domande. La traduzione avviene simultaneamente.</a:t>
            </a:r>
            <a:endParaRPr sz="12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8" name="Google Shape;188;p23"/>
          <p:cNvSpPr txBox="1"/>
          <p:nvPr>
            <p:ph idx="4294967295" type="ctrTitle"/>
          </p:nvPr>
        </p:nvSpPr>
        <p:spPr>
          <a:xfrm>
            <a:off x="3076375" y="1770750"/>
            <a:ext cx="3071700" cy="49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FF4B4B"/>
                </a:solidFill>
                <a:latin typeface="Poppins"/>
                <a:ea typeface="Poppins"/>
                <a:cs typeface="Poppins"/>
                <a:sym typeface="Poppins"/>
              </a:rPr>
              <a:t>Durante la Conversazione</a:t>
            </a:r>
            <a:endParaRPr b="1" sz="1700">
              <a:solidFill>
                <a:srgbClr val="FF4B4B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9" name="Google Shape;189;p23"/>
          <p:cNvSpPr txBox="1"/>
          <p:nvPr>
            <p:ph idx="4294967295" type="ctrTitle"/>
          </p:nvPr>
        </p:nvSpPr>
        <p:spPr>
          <a:xfrm>
            <a:off x="739900" y="2200213"/>
            <a:ext cx="2304900" cy="131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latin typeface="Poppins"/>
                <a:ea typeface="Poppins"/>
                <a:cs typeface="Poppins"/>
                <a:sym typeface="Poppins"/>
              </a:rPr>
              <a:t>Non preoccupatevi di come parlate. </a:t>
            </a:r>
            <a:endParaRPr sz="12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latin typeface="Poppins"/>
                <a:ea typeface="Poppins"/>
                <a:cs typeface="Poppins"/>
                <a:sym typeface="Poppins"/>
              </a:rPr>
              <a:t>Parlate in modo pulito e chiaro nella vostra lingua. </a:t>
            </a:r>
            <a:endParaRPr sz="12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latin typeface="Poppins"/>
                <a:ea typeface="Poppins"/>
                <a:cs typeface="Poppins"/>
                <a:sym typeface="Poppins"/>
              </a:rPr>
              <a:t>Parlare velocemente è perfetto!</a:t>
            </a:r>
            <a:endParaRPr sz="12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90" name="Google Shape;190;p23"/>
          <p:cNvSpPr txBox="1"/>
          <p:nvPr>
            <p:ph idx="4294967295" type="ctrTitle"/>
          </p:nvPr>
        </p:nvSpPr>
        <p:spPr>
          <a:xfrm>
            <a:off x="739900" y="1770738"/>
            <a:ext cx="2304900" cy="49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FF4B4B"/>
                </a:solidFill>
                <a:latin typeface="Poppins"/>
                <a:ea typeface="Poppins"/>
                <a:cs typeface="Poppins"/>
                <a:sym typeface="Poppins"/>
              </a:rPr>
              <a:t>Come Parlare</a:t>
            </a:r>
            <a:endParaRPr b="1" sz="1700">
              <a:solidFill>
                <a:srgbClr val="FF4B4B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91" name="Google Shape;191;p23"/>
          <p:cNvSpPr txBox="1"/>
          <p:nvPr>
            <p:ph idx="4294967295" type="ctrTitle"/>
          </p:nvPr>
        </p:nvSpPr>
        <p:spPr>
          <a:xfrm>
            <a:off x="6104925" y="2200213"/>
            <a:ext cx="2304900" cy="131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latin typeface="Poppins"/>
                <a:ea typeface="Poppins"/>
                <a:cs typeface="Poppins"/>
                <a:sym typeface="Poppins"/>
              </a:rPr>
              <a:t>Gli autisti possono attivare la modalità lingua nelle impostazioni della sessione. In questo modo è possibile ascoltare la traduzione e seguire la lezione senza problemi. </a:t>
            </a:r>
            <a:endParaRPr sz="12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latin typeface="Poppins"/>
                <a:ea typeface="Poppins"/>
                <a:cs typeface="Poppins"/>
                <a:sym typeface="Poppins"/>
              </a:rPr>
              <a:t>Le cuffie sono altamente raccomandate.</a:t>
            </a:r>
            <a:endParaRPr sz="12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92" name="Google Shape;192;p23"/>
          <p:cNvSpPr txBox="1"/>
          <p:nvPr>
            <p:ph idx="4294967295" type="ctrTitle"/>
          </p:nvPr>
        </p:nvSpPr>
        <p:spPr>
          <a:xfrm>
            <a:off x="6104925" y="1770738"/>
            <a:ext cx="2304900" cy="49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FF4B4B"/>
                </a:solidFill>
                <a:latin typeface="Poppins"/>
                <a:ea typeface="Poppins"/>
                <a:cs typeface="Poppins"/>
                <a:sym typeface="Poppins"/>
              </a:rPr>
              <a:t>Per gli Allievi</a:t>
            </a:r>
            <a:endParaRPr b="1" sz="1700">
              <a:solidFill>
                <a:srgbClr val="FF4B4B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93" name="Google Shape;193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35550" y="557024"/>
            <a:ext cx="532975" cy="11334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23"/>
          <p:cNvPicPr preferRelativeResize="0"/>
          <p:nvPr/>
        </p:nvPicPr>
        <p:blipFill rotWithShape="1">
          <a:blip r:embed="rId5">
            <a:alphaModFix/>
          </a:blip>
          <a:srcRect b="0" l="0" r="0" t="4123"/>
          <a:stretch/>
        </p:blipFill>
        <p:spPr>
          <a:xfrm>
            <a:off x="8324150" y="0"/>
            <a:ext cx="819850" cy="79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