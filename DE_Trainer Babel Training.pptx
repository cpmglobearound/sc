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Roboto"/>
      <p:regular r:id="rId17"/>
      <p:bold r:id="rId18"/>
      <p:italic r:id="rId19"/>
      <p:boldItalic r:id="rId20"/>
    </p:embeddedFont>
    <p:embeddedFont>
      <p:font typeface="Poppins"/>
      <p:regular r:id="rId21"/>
      <p:bold r:id="rId22"/>
      <p:italic r:id="rId23"/>
      <p:boldItalic r:id="rId24"/>
    </p:embeddedFont>
    <p:embeddedFont>
      <p:font typeface="Poppins ExtraBold"/>
      <p:bold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Italic.fntdata"/><Relationship Id="rId22" Type="http://schemas.openxmlformats.org/officeDocument/2006/relationships/font" Target="fonts/Poppins-bold.fntdata"/><Relationship Id="rId21" Type="http://schemas.openxmlformats.org/officeDocument/2006/relationships/font" Target="fonts/Poppins-regular.fntdata"/><Relationship Id="rId24" Type="http://schemas.openxmlformats.org/officeDocument/2006/relationships/font" Target="fonts/Poppins-boldItalic.fntdata"/><Relationship Id="rId23" Type="http://schemas.openxmlformats.org/officeDocument/2006/relationships/font" Target="fonts/Poppins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oppinsExtraBold-boldItalic.fntdata"/><Relationship Id="rId25" Type="http://schemas.openxmlformats.org/officeDocument/2006/relationships/font" Target="fonts/PoppinsExtraBold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oboto-regular.fntdata"/><Relationship Id="rId16" Type="http://schemas.openxmlformats.org/officeDocument/2006/relationships/slide" Target="slides/slide11.xml"/><Relationship Id="rId19" Type="http://schemas.openxmlformats.org/officeDocument/2006/relationships/font" Target="fonts/Roboto-italic.fntdata"/><Relationship Id="rId18" Type="http://schemas.openxmlformats.org/officeDocument/2006/relationships/font" Target="fonts/Roboto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13dfd6aea60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13dfd6aea60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19fa9f219b0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19fa9f219b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19fa9f219b0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19fa9f219b0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3e65501904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13e65501904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19fa9f219b0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19fa9f219b0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19fa9f219b0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19fa9f219b0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19fa9f219b0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19fa9f219b0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19fa9f219b0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19fa9f219b0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19fa9f219b0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19fa9f219b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13e65501904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13e65501904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11.png"/><Relationship Id="rId6" Type="http://schemas.openxmlformats.org/officeDocument/2006/relationships/image" Target="../media/image7.png"/><Relationship Id="rId7" Type="http://schemas.openxmlformats.org/officeDocument/2006/relationships/image" Target="../media/image13.png"/><Relationship Id="rId8" Type="http://schemas.openxmlformats.org/officeDocument/2006/relationships/image" Target="../media/image2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.jpg"/><Relationship Id="rId5" Type="http://schemas.openxmlformats.org/officeDocument/2006/relationships/image" Target="../media/image3.png"/><Relationship Id="rId6" Type="http://schemas.openxmlformats.org/officeDocument/2006/relationships/image" Target="../media/image1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12.jpg"/><Relationship Id="rId6" Type="http://schemas.openxmlformats.org/officeDocument/2006/relationships/image" Target="../media/image8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12.jpg"/><Relationship Id="rId6" Type="http://schemas.openxmlformats.org/officeDocument/2006/relationships/image" Target="../media/image4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17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12.jpg"/><Relationship Id="rId6" Type="http://schemas.openxmlformats.org/officeDocument/2006/relationships/image" Target="../media/image6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15.png"/><Relationship Id="rId6" Type="http://schemas.openxmlformats.org/officeDocument/2006/relationships/image" Target="../media/image14.png"/><Relationship Id="rId7" Type="http://schemas.openxmlformats.org/officeDocument/2006/relationships/image" Target="../media/image16.jpg"/><Relationship Id="rId8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6705798">
            <a:off x="-367146" y="141999"/>
            <a:ext cx="1665322" cy="1665322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18900" y="-606125"/>
            <a:ext cx="2719476" cy="6571628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>
            <p:ph type="ctrTitle"/>
          </p:nvPr>
        </p:nvSpPr>
        <p:spPr>
          <a:xfrm>
            <a:off x="488350" y="2250675"/>
            <a:ext cx="7348500" cy="188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4400">
                <a:latin typeface="Poppins ExtraBold"/>
                <a:ea typeface="Poppins ExtraBold"/>
                <a:cs typeface="Poppins ExtraBold"/>
                <a:sym typeface="Poppins ExtraBold"/>
              </a:rPr>
              <a:t>Amazon - Babel + App Training</a:t>
            </a:r>
            <a:endParaRPr i="1" sz="4400"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idx="4294967295" type="ctrTitle"/>
          </p:nvPr>
        </p:nvSpPr>
        <p:spPr>
          <a:xfrm>
            <a:off x="804175" y="370113"/>
            <a:ext cx="7146900" cy="74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4000">
                <a:latin typeface="Poppins ExtraBold"/>
                <a:ea typeface="Poppins ExtraBold"/>
                <a:cs typeface="Poppins ExtraBold"/>
                <a:sym typeface="Poppins ExtraBold"/>
              </a:rPr>
              <a:t>Babel + App</a:t>
            </a:r>
            <a:endParaRPr i="1" sz="4000"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6705816">
            <a:off x="8387238" y="3932044"/>
            <a:ext cx="884675" cy="884687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>
            <p:ph idx="4294967295" type="ctrTitle"/>
          </p:nvPr>
        </p:nvSpPr>
        <p:spPr>
          <a:xfrm>
            <a:off x="804175" y="1315875"/>
            <a:ext cx="7146900" cy="306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latin typeface="Poppins"/>
                <a:ea typeface="Poppins"/>
                <a:cs typeface="Poppins"/>
                <a:sym typeface="Poppins"/>
              </a:rPr>
              <a:t>Babel App ist ein technologisches Werkzeug, das Amazon den Ausbildern zur Verfügung stellt, um Sprachbarrieren zu überwinden.</a:t>
            </a:r>
            <a:endParaRPr sz="17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7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latin typeface="Poppins"/>
                <a:ea typeface="Poppins"/>
                <a:cs typeface="Poppins"/>
                <a:sym typeface="Poppins"/>
              </a:rPr>
              <a:t>Dank dieser App wird Ihre </a:t>
            </a:r>
            <a:r>
              <a:rPr lang="en" sz="1700">
                <a:latin typeface="Poppins"/>
                <a:ea typeface="Poppins"/>
                <a:cs typeface="Poppins"/>
                <a:sym typeface="Poppins"/>
              </a:rPr>
              <a:t>Schulungs Sitzung</a:t>
            </a:r>
            <a:r>
              <a:rPr lang="en" sz="1700">
                <a:latin typeface="Poppins"/>
                <a:ea typeface="Poppins"/>
                <a:cs typeface="Poppins"/>
                <a:sym typeface="Poppins"/>
              </a:rPr>
              <a:t> sofort in mehr als 25 Sprachen übersetzt und die Fahrer können den Unterricht gleichzeitig in ihrer eigenen Sprache lesen/hören.</a:t>
            </a:r>
            <a:endParaRPr sz="17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7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latin typeface="Poppins"/>
                <a:ea typeface="Poppins"/>
                <a:cs typeface="Poppins"/>
                <a:sym typeface="Poppins"/>
              </a:rPr>
              <a:t>Amazon-Fahrer nutzen diese App während ihrer morgendlichen Schulung.</a:t>
            </a:r>
            <a:endParaRPr sz="17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4" name="Google Shape;6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6705816">
            <a:off x="-212987" y="298719"/>
            <a:ext cx="884675" cy="884687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4"/>
          <p:cNvPicPr preferRelativeResize="0"/>
          <p:nvPr/>
        </p:nvPicPr>
        <p:blipFill rotWithShape="1">
          <a:blip r:embed="rId4">
            <a:alphaModFix/>
          </a:blip>
          <a:srcRect b="0" l="0" r="0" t="4123"/>
          <a:stretch/>
        </p:blipFill>
        <p:spPr>
          <a:xfrm>
            <a:off x="8324150" y="0"/>
            <a:ext cx="819850" cy="79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idx="4294967295" type="ctrTitle"/>
          </p:nvPr>
        </p:nvSpPr>
        <p:spPr>
          <a:xfrm>
            <a:off x="804175" y="370113"/>
            <a:ext cx="7146900" cy="74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4000">
                <a:latin typeface="Poppins ExtraBold"/>
                <a:ea typeface="Poppins ExtraBold"/>
                <a:cs typeface="Poppins ExtraBold"/>
                <a:sym typeface="Poppins ExtraBold"/>
              </a:rPr>
              <a:t>Download App - Android</a:t>
            </a:r>
            <a:endParaRPr i="1" sz="4000"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pic>
        <p:nvPicPr>
          <p:cNvPr id="71" name="Google Shape;7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6705816">
            <a:off x="8387238" y="3932044"/>
            <a:ext cx="884675" cy="884687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5"/>
          <p:cNvSpPr txBox="1"/>
          <p:nvPr>
            <p:ph idx="4294967295" type="ctrTitle"/>
          </p:nvPr>
        </p:nvSpPr>
        <p:spPr>
          <a:xfrm>
            <a:off x="804175" y="1112025"/>
            <a:ext cx="7146900" cy="306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Poppins"/>
                <a:ea typeface="Poppins"/>
                <a:cs typeface="Poppins"/>
                <a:sym typeface="Poppins"/>
              </a:rPr>
              <a:t>Scannen Sie den QR-Code und laden Sie die App aus Ihrem Play Store herunter. </a:t>
            </a:r>
            <a:endParaRPr sz="1200"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73" name="Google Shape;7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6705816">
            <a:off x="-212987" y="298719"/>
            <a:ext cx="884675" cy="884687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5"/>
          <p:cNvPicPr preferRelativeResize="0"/>
          <p:nvPr/>
        </p:nvPicPr>
        <p:blipFill rotWithShape="1">
          <a:blip r:embed="rId4">
            <a:alphaModFix/>
          </a:blip>
          <a:srcRect b="0" l="0" r="0" t="4123"/>
          <a:stretch/>
        </p:blipFill>
        <p:spPr>
          <a:xfrm>
            <a:off x="8324150" y="0"/>
            <a:ext cx="819850" cy="79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23525" y="2441000"/>
            <a:ext cx="2508200" cy="250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100513" y="1684050"/>
            <a:ext cx="554225" cy="659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>
            <p:ph idx="4294967295" type="ctrTitle"/>
          </p:nvPr>
        </p:nvSpPr>
        <p:spPr>
          <a:xfrm>
            <a:off x="804175" y="370113"/>
            <a:ext cx="7146900" cy="74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4000">
                <a:latin typeface="Poppins ExtraBold"/>
                <a:ea typeface="Poppins ExtraBold"/>
                <a:cs typeface="Poppins ExtraBold"/>
                <a:sym typeface="Poppins ExtraBold"/>
              </a:rPr>
              <a:t>Download App - iOS Apple</a:t>
            </a:r>
            <a:endParaRPr i="1" sz="4000"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pic>
        <p:nvPicPr>
          <p:cNvPr id="82" name="Google Shape;8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6705816">
            <a:off x="8387238" y="3932044"/>
            <a:ext cx="884675" cy="884687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6"/>
          <p:cNvSpPr txBox="1"/>
          <p:nvPr>
            <p:ph idx="4294967295" type="ctrTitle"/>
          </p:nvPr>
        </p:nvSpPr>
        <p:spPr>
          <a:xfrm>
            <a:off x="804175" y="1112025"/>
            <a:ext cx="7146900" cy="306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"/>
              <a:buAutoNum type="arabicPeriod"/>
            </a:pPr>
            <a:r>
              <a:rPr lang="en" sz="1400">
                <a:latin typeface="Poppins"/>
                <a:ea typeface="Poppins"/>
                <a:cs typeface="Poppins"/>
                <a:sym typeface="Poppins"/>
              </a:rPr>
              <a:t>Scannen Sie den 1. QR-Code, laden Sie die App aus dem Apple Store herunter und schließen Sie sie.</a:t>
            </a:r>
            <a:endParaRPr sz="1400"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"/>
              <a:buAutoNum type="arabicPeriod"/>
            </a:pPr>
            <a:r>
              <a:rPr lang="en" sz="1400">
                <a:latin typeface="Poppins"/>
                <a:ea typeface="Poppins"/>
                <a:cs typeface="Poppins"/>
                <a:sym typeface="Poppins"/>
              </a:rPr>
              <a:t>Scannen Sie den 2. QR-Code und laden Sie babel translator herunter</a:t>
            </a:r>
            <a:endParaRPr sz="14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4" name="Google Shape;8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6705816">
            <a:off x="-212987" y="298719"/>
            <a:ext cx="884675" cy="884687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6"/>
          <p:cNvPicPr preferRelativeResize="0"/>
          <p:nvPr/>
        </p:nvPicPr>
        <p:blipFill rotWithShape="1">
          <a:blip r:embed="rId4">
            <a:alphaModFix/>
          </a:blip>
          <a:srcRect b="0" l="0" r="0" t="4123"/>
          <a:stretch/>
        </p:blipFill>
        <p:spPr>
          <a:xfrm>
            <a:off x="8324150" y="0"/>
            <a:ext cx="819850" cy="79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86875" y="2722325"/>
            <a:ext cx="2255475" cy="2266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012900" y="2728025"/>
            <a:ext cx="2255476" cy="22554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8" name="Google Shape;88;p16"/>
          <p:cNvCxnSpPr/>
          <p:nvPr/>
        </p:nvCxnSpPr>
        <p:spPr>
          <a:xfrm>
            <a:off x="4003675" y="3799575"/>
            <a:ext cx="747900" cy="5700"/>
          </a:xfrm>
          <a:prstGeom prst="straightConnector1">
            <a:avLst/>
          </a:prstGeom>
          <a:noFill/>
          <a:ln cap="flat" cmpd="sng" w="38100">
            <a:solidFill>
              <a:srgbClr val="FF4B4B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9" name="Google Shape;89;p16"/>
          <p:cNvSpPr txBox="1"/>
          <p:nvPr/>
        </p:nvSpPr>
        <p:spPr>
          <a:xfrm>
            <a:off x="1121475" y="2728025"/>
            <a:ext cx="365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1.</a:t>
            </a:r>
            <a:endParaRPr/>
          </a:p>
        </p:txBody>
      </p:sp>
      <p:sp>
        <p:nvSpPr>
          <p:cNvPr id="90" name="Google Shape;90;p16"/>
          <p:cNvSpPr txBox="1"/>
          <p:nvPr/>
        </p:nvSpPr>
        <p:spPr>
          <a:xfrm>
            <a:off x="4647500" y="2728025"/>
            <a:ext cx="365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/>
          </a:p>
        </p:txBody>
      </p:sp>
      <p:pic>
        <p:nvPicPr>
          <p:cNvPr id="91" name="Google Shape;91;p1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374850" y="2124125"/>
            <a:ext cx="479524" cy="479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852703" y="2027775"/>
            <a:ext cx="575875" cy="575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6705816">
            <a:off x="-212987" y="298719"/>
            <a:ext cx="884675" cy="884687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7"/>
          <p:cNvSpPr txBox="1"/>
          <p:nvPr>
            <p:ph idx="4294967295" type="ctrTitle"/>
          </p:nvPr>
        </p:nvSpPr>
        <p:spPr>
          <a:xfrm>
            <a:off x="804175" y="340950"/>
            <a:ext cx="7146900" cy="74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4000">
                <a:latin typeface="Poppins ExtraBold"/>
                <a:ea typeface="Poppins ExtraBold"/>
                <a:cs typeface="Poppins ExtraBold"/>
                <a:sym typeface="Poppins ExtraBold"/>
              </a:rPr>
              <a:t>Registrierung</a:t>
            </a:r>
            <a:endParaRPr i="1" sz="4000">
              <a:latin typeface="Poppins ExtraBold"/>
              <a:ea typeface="Poppins ExtraBold"/>
              <a:cs typeface="Poppins ExtraBold"/>
              <a:sym typeface="Poppins ExtraBold"/>
            </a:endParaRPr>
          </a:p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4000"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pic>
        <p:nvPicPr>
          <p:cNvPr id="99" name="Google Shape;9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6705816">
            <a:off x="8501538" y="3942444"/>
            <a:ext cx="884675" cy="884687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7"/>
          <p:cNvSpPr txBox="1"/>
          <p:nvPr>
            <p:ph idx="4294967295" type="ctrTitle"/>
          </p:nvPr>
        </p:nvSpPr>
        <p:spPr>
          <a:xfrm>
            <a:off x="5223400" y="2049150"/>
            <a:ext cx="3847800" cy="184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4B4B"/>
              </a:buClr>
              <a:buSzPts val="1500"/>
              <a:buFont typeface="Poppins"/>
              <a:buAutoNum type="arabicPeriod"/>
            </a:pPr>
            <a:r>
              <a:rPr lang="en" sz="1500">
                <a:latin typeface="Poppins"/>
                <a:ea typeface="Poppins"/>
                <a:cs typeface="Poppins"/>
                <a:sym typeface="Poppins"/>
              </a:rPr>
              <a:t>Babbel App öffnen</a:t>
            </a:r>
            <a:endParaRPr sz="1500"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4B4B"/>
              </a:buClr>
              <a:buSzPts val="1500"/>
              <a:buFont typeface="Poppins"/>
              <a:buAutoNum type="arabicPeriod"/>
            </a:pPr>
            <a:r>
              <a:rPr lang="en" sz="1500">
                <a:latin typeface="Poppins"/>
                <a:ea typeface="Poppins"/>
                <a:cs typeface="Poppins"/>
                <a:sym typeface="Poppins"/>
              </a:rPr>
              <a:t>Geben Sie Ihren Vornamen/Namen ein</a:t>
            </a:r>
            <a:endParaRPr sz="1500"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4B4B"/>
              </a:buClr>
              <a:buSzPts val="1500"/>
              <a:buFont typeface="Poppins"/>
              <a:buAutoNum type="arabicPeriod"/>
            </a:pPr>
            <a:r>
              <a:rPr lang="en" sz="1500">
                <a:latin typeface="Poppins"/>
                <a:ea typeface="Poppins"/>
                <a:cs typeface="Poppins"/>
                <a:sym typeface="Poppins"/>
              </a:rPr>
              <a:t>Wählen Sie die Sprache der App </a:t>
            </a:r>
            <a:endParaRPr sz="1500"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4B4B"/>
              </a:buClr>
              <a:buSzPts val="1500"/>
              <a:buFont typeface="Poppins"/>
              <a:buAutoNum type="arabicPeriod"/>
            </a:pPr>
            <a:r>
              <a:rPr lang="en" sz="1500">
                <a:latin typeface="Poppins"/>
                <a:ea typeface="Poppins"/>
                <a:cs typeface="Poppins"/>
                <a:sym typeface="Poppins"/>
              </a:rPr>
              <a:t>Klicken Sie auf "Eingabe"</a:t>
            </a:r>
            <a:endParaRPr sz="1500"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4B4B"/>
              </a:buClr>
              <a:buSzPts val="1500"/>
              <a:buFont typeface="Poppins"/>
              <a:buAutoNum type="arabicPeriod"/>
            </a:pPr>
            <a:r>
              <a:rPr lang="en" sz="1500">
                <a:latin typeface="Poppins"/>
                <a:ea typeface="Poppins"/>
                <a:cs typeface="Poppins"/>
                <a:sym typeface="Poppins"/>
              </a:rPr>
              <a:t>Sie werden zur Startseite weitergeleitet</a:t>
            </a:r>
            <a:endParaRPr sz="15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Poppins"/>
                <a:ea typeface="Poppins"/>
                <a:cs typeface="Poppins"/>
                <a:sym typeface="Poppins"/>
              </a:rPr>
              <a:t> </a:t>
            </a:r>
            <a:endParaRPr sz="15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01" name="Google Shape;101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4176" y="1257100"/>
            <a:ext cx="1646275" cy="3564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7"/>
          <p:cNvPicPr preferRelativeResize="0"/>
          <p:nvPr/>
        </p:nvPicPr>
        <p:blipFill rotWithShape="1">
          <a:blip r:embed="rId5">
            <a:alphaModFix/>
          </a:blip>
          <a:srcRect b="0" l="0" r="0" t="4123"/>
          <a:stretch/>
        </p:blipFill>
        <p:spPr>
          <a:xfrm>
            <a:off x="8324150" y="0"/>
            <a:ext cx="819850" cy="79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309475" y="1257047"/>
            <a:ext cx="1646275" cy="356405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4" name="Google Shape;104;p17"/>
          <p:cNvCxnSpPr>
            <a:stCxn id="101" idx="3"/>
            <a:endCxn id="103" idx="1"/>
          </p:cNvCxnSpPr>
          <p:nvPr/>
        </p:nvCxnSpPr>
        <p:spPr>
          <a:xfrm>
            <a:off x="2450451" y="3039101"/>
            <a:ext cx="858900" cy="0"/>
          </a:xfrm>
          <a:prstGeom prst="straightConnector1">
            <a:avLst/>
          </a:prstGeom>
          <a:noFill/>
          <a:ln cap="flat" cmpd="sng" w="38100">
            <a:solidFill>
              <a:srgbClr val="FF4B4B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5" name="Google Shape;105;p17"/>
          <p:cNvSpPr txBox="1"/>
          <p:nvPr/>
        </p:nvSpPr>
        <p:spPr>
          <a:xfrm>
            <a:off x="968513" y="4821100"/>
            <a:ext cx="1317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Registration page</a:t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6" name="Google Shape;106;p17"/>
          <p:cNvSpPr txBox="1"/>
          <p:nvPr/>
        </p:nvSpPr>
        <p:spPr>
          <a:xfrm>
            <a:off x="3473800" y="4804800"/>
            <a:ext cx="1317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Home-page</a:t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6705816">
            <a:off x="-212987" y="298719"/>
            <a:ext cx="884675" cy="884687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8"/>
          <p:cNvSpPr txBox="1"/>
          <p:nvPr>
            <p:ph idx="4294967295" type="ctrTitle"/>
          </p:nvPr>
        </p:nvSpPr>
        <p:spPr>
          <a:xfrm>
            <a:off x="804175" y="340950"/>
            <a:ext cx="7146900" cy="74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4000">
                <a:latin typeface="Poppins ExtraBold"/>
                <a:ea typeface="Poppins ExtraBold"/>
                <a:cs typeface="Poppins ExtraBold"/>
                <a:sym typeface="Poppins ExtraBold"/>
              </a:rPr>
              <a:t>Babbel Einstellungen</a:t>
            </a:r>
            <a:endParaRPr i="1" sz="4000">
              <a:latin typeface="Poppins ExtraBold"/>
              <a:ea typeface="Poppins ExtraBold"/>
              <a:cs typeface="Poppins ExtraBold"/>
              <a:sym typeface="Poppins ExtraBold"/>
            </a:endParaRPr>
          </a:p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4000"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pic>
        <p:nvPicPr>
          <p:cNvPr id="113" name="Google Shape;11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6705816">
            <a:off x="8544413" y="4126344"/>
            <a:ext cx="884675" cy="884687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8"/>
          <p:cNvSpPr txBox="1"/>
          <p:nvPr>
            <p:ph idx="4294967295" type="ctrTitle"/>
          </p:nvPr>
        </p:nvSpPr>
        <p:spPr>
          <a:xfrm>
            <a:off x="5103525" y="1315880"/>
            <a:ext cx="4007400" cy="259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Klicken Sie auf der Startseite auf die drei Linien oben links, um die Einstellungsseite zu öffnen.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4B4B"/>
              </a:buClr>
              <a:buSzPts val="1200"/>
              <a:buFont typeface="Poppins"/>
              <a:buAutoNum type="arabicPeriod"/>
            </a:pP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Ihr Name: Geben Sie Ihren Namen/ Vornamen zur </a:t>
            </a: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Registrierung</a:t>
            </a: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 ein 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4B4B"/>
              </a:buClr>
              <a:buSzPts val="1200"/>
              <a:buFont typeface="Poppins"/>
              <a:buAutoNum type="arabicPeriod"/>
            </a:pP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Ihre Sprache: Ändern Sie die Sprache, die Sie übersetzen oder sprechen möchten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4B4B"/>
              </a:buClr>
              <a:buSzPts val="1200"/>
              <a:buFont typeface="Poppins"/>
              <a:buAutoNum type="arabicPeriod"/>
            </a:pP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Schimpfwort-Filter: Verschlüsseln Sie vulgäre Wörter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4B4B"/>
              </a:buClr>
              <a:buSzPts val="1200"/>
              <a:buFont typeface="Poppins"/>
              <a:buAutoNum type="arabicPeriod"/>
            </a:pP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Originaltext anzeigen: Aktivieren Sie diese Option, um Übersetzungen und den Text in der Originalsprache zu sehen.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4B4B"/>
              </a:buClr>
              <a:buSzPts val="1200"/>
              <a:buFont typeface="Poppins"/>
              <a:buAutoNum type="arabicPeriod"/>
            </a:pP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Größe des Nachrichtentextes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15" name="Google Shape;115;p18"/>
          <p:cNvPicPr preferRelativeResize="0"/>
          <p:nvPr/>
        </p:nvPicPr>
        <p:blipFill rotWithShape="1">
          <a:blip r:embed="rId4">
            <a:alphaModFix/>
          </a:blip>
          <a:srcRect b="0" l="0" r="0" t="4123"/>
          <a:stretch/>
        </p:blipFill>
        <p:spPr>
          <a:xfrm>
            <a:off x="8324150" y="0"/>
            <a:ext cx="819850" cy="793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6" name="Google Shape;116;p18"/>
          <p:cNvCxnSpPr>
            <a:stCxn id="117" idx="3"/>
            <a:endCxn id="118" idx="1"/>
          </p:cNvCxnSpPr>
          <p:nvPr/>
        </p:nvCxnSpPr>
        <p:spPr>
          <a:xfrm>
            <a:off x="2450451" y="3039101"/>
            <a:ext cx="858900" cy="0"/>
          </a:xfrm>
          <a:prstGeom prst="straightConnector1">
            <a:avLst/>
          </a:prstGeom>
          <a:noFill/>
          <a:ln cap="flat" cmpd="sng" w="38100">
            <a:solidFill>
              <a:srgbClr val="FF4B4B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9" name="Google Shape;119;p18"/>
          <p:cNvSpPr txBox="1"/>
          <p:nvPr/>
        </p:nvSpPr>
        <p:spPr>
          <a:xfrm>
            <a:off x="968513" y="4821100"/>
            <a:ext cx="1317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Home-page</a:t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0" name="Google Shape;120;p18"/>
          <p:cNvSpPr txBox="1"/>
          <p:nvPr/>
        </p:nvSpPr>
        <p:spPr>
          <a:xfrm>
            <a:off x="3473800" y="4804800"/>
            <a:ext cx="1317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Einstellungen</a:t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21" name="Google Shape;121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4050" y="1257072"/>
            <a:ext cx="1646275" cy="35640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309475" y="1257050"/>
            <a:ext cx="1646275" cy="3564012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8"/>
          <p:cNvSpPr/>
          <p:nvPr/>
        </p:nvSpPr>
        <p:spPr>
          <a:xfrm>
            <a:off x="804050" y="1438450"/>
            <a:ext cx="278700" cy="273900"/>
          </a:xfrm>
          <a:prstGeom prst="ellipse">
            <a:avLst/>
          </a:prstGeom>
          <a:noFill/>
          <a:ln cap="flat" cmpd="sng" w="28575">
            <a:solidFill>
              <a:srgbClr val="FF4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6705816">
            <a:off x="-212987" y="298719"/>
            <a:ext cx="884675" cy="884687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9"/>
          <p:cNvSpPr txBox="1"/>
          <p:nvPr>
            <p:ph idx="4294967295" type="ctrTitle"/>
          </p:nvPr>
        </p:nvSpPr>
        <p:spPr>
          <a:xfrm>
            <a:off x="804175" y="340950"/>
            <a:ext cx="7586400" cy="74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4000">
                <a:latin typeface="Poppins ExtraBold"/>
                <a:ea typeface="Poppins ExtraBold"/>
                <a:cs typeface="Poppins ExtraBold"/>
                <a:sym typeface="Poppins ExtraBold"/>
              </a:rPr>
              <a:t>Multi-Device-Konversation </a:t>
            </a:r>
            <a:r>
              <a:rPr i="1" lang="en" sz="1900">
                <a:latin typeface="Poppins ExtraBold"/>
                <a:ea typeface="Poppins ExtraBold"/>
                <a:cs typeface="Poppins ExtraBold"/>
                <a:sym typeface="Poppins ExtraBold"/>
              </a:rPr>
              <a:t>Nur Trainer</a:t>
            </a:r>
            <a:endParaRPr i="1" sz="100">
              <a:latin typeface="Poppins ExtraBold"/>
              <a:ea typeface="Poppins ExtraBold"/>
              <a:cs typeface="Poppins ExtraBold"/>
              <a:sym typeface="Poppins ExtraBold"/>
            </a:endParaRPr>
          </a:p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4000"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130" name="Google Shape;130;p19"/>
          <p:cNvSpPr txBox="1"/>
          <p:nvPr>
            <p:ph idx="4294967295" type="ctrTitle"/>
          </p:nvPr>
        </p:nvSpPr>
        <p:spPr>
          <a:xfrm>
            <a:off x="4995075" y="1315875"/>
            <a:ext cx="4149000" cy="259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Trainer können eine Sitzung erstellen, indem sie auf "Start" unter Multi-Device-Konversation klicken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4B4B"/>
              </a:buClr>
              <a:buSzPts val="1200"/>
              <a:buFont typeface="Poppins"/>
              <a:buAutoNum type="arabicPeriod"/>
            </a:pP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Land/Region: Wählen Sie das Land, in dem die Schulung stattfindet.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4B4B"/>
              </a:buClr>
              <a:buSzPts val="1200"/>
              <a:buFont typeface="Poppins"/>
              <a:buAutoNum type="arabicPeriod"/>
            </a:pP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DS/Team: Wählen Sie die AMAZON-Station der Schulung - LAND DS CODE HINZUFÜGEN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4B4B"/>
              </a:buClr>
              <a:buSzPts val="1200"/>
              <a:buFont typeface="Poppins"/>
              <a:buAutoNum type="arabicPeriod"/>
            </a:pP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PIN: TRAINER (alle Großbuchstaben)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4B4B"/>
              </a:buClr>
              <a:buSzPts val="1200"/>
              <a:buFont typeface="Poppins"/>
              <a:buAutoNum type="arabicPeriod"/>
            </a:pP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Klicken Sie auf "Start".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Nachdem Sie auf "Start" geklickt haben, wird die Sitzung erstellt und ein Code für jeden Fahrer eingegeben, der an der Sitzung teilnehmen soll.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31" name="Google Shape;131;p19"/>
          <p:cNvPicPr preferRelativeResize="0"/>
          <p:nvPr/>
        </p:nvPicPr>
        <p:blipFill rotWithShape="1">
          <a:blip r:embed="rId4">
            <a:alphaModFix/>
          </a:blip>
          <a:srcRect b="0" l="0" r="0" t="4123"/>
          <a:stretch/>
        </p:blipFill>
        <p:spPr>
          <a:xfrm>
            <a:off x="8324150" y="0"/>
            <a:ext cx="819850" cy="793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2" name="Google Shape;132;p19"/>
          <p:cNvCxnSpPr>
            <a:stCxn id="133" idx="3"/>
            <a:endCxn id="134" idx="1"/>
          </p:cNvCxnSpPr>
          <p:nvPr/>
        </p:nvCxnSpPr>
        <p:spPr>
          <a:xfrm>
            <a:off x="2450451" y="3039101"/>
            <a:ext cx="858900" cy="0"/>
          </a:xfrm>
          <a:prstGeom prst="straightConnector1">
            <a:avLst/>
          </a:prstGeom>
          <a:noFill/>
          <a:ln cap="flat" cmpd="sng" w="38100">
            <a:solidFill>
              <a:srgbClr val="FF4B4B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5" name="Google Shape;135;p19"/>
          <p:cNvSpPr txBox="1"/>
          <p:nvPr/>
        </p:nvSpPr>
        <p:spPr>
          <a:xfrm>
            <a:off x="968513" y="4821100"/>
            <a:ext cx="1317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Home-page</a:t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6" name="Google Shape;136;p19"/>
          <p:cNvSpPr txBox="1"/>
          <p:nvPr/>
        </p:nvSpPr>
        <p:spPr>
          <a:xfrm>
            <a:off x="2905700" y="4804800"/>
            <a:ext cx="22950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Multi-Geräte-Aktivierung</a:t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37" name="Google Shape;137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4050" y="1257072"/>
            <a:ext cx="1646275" cy="3564052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9"/>
          <p:cNvSpPr/>
          <p:nvPr/>
        </p:nvSpPr>
        <p:spPr>
          <a:xfrm>
            <a:off x="784925" y="2129300"/>
            <a:ext cx="1684800" cy="372900"/>
          </a:xfrm>
          <a:prstGeom prst="ellipse">
            <a:avLst/>
          </a:prstGeom>
          <a:noFill/>
          <a:ln cap="flat" cmpd="sng" w="28575">
            <a:solidFill>
              <a:srgbClr val="FF4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9" name="Google Shape;139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309465" y="1257088"/>
            <a:ext cx="1646275" cy="35640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6705816">
            <a:off x="-212987" y="298719"/>
            <a:ext cx="884675" cy="884687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0"/>
          <p:cNvSpPr txBox="1"/>
          <p:nvPr>
            <p:ph idx="4294967295" type="ctrTitle"/>
          </p:nvPr>
        </p:nvSpPr>
        <p:spPr>
          <a:xfrm>
            <a:off x="804175" y="340950"/>
            <a:ext cx="7433400" cy="74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4000">
                <a:latin typeface="Poppins ExtraBold"/>
                <a:ea typeface="Poppins ExtraBold"/>
                <a:cs typeface="Poppins ExtraBold"/>
                <a:sym typeface="Poppins ExtraBold"/>
              </a:rPr>
              <a:t>Multigerätesitzung CODE</a:t>
            </a:r>
            <a:endParaRPr i="1" sz="4000"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146" name="Google Shape;146;p20"/>
          <p:cNvSpPr txBox="1"/>
          <p:nvPr>
            <p:ph idx="4294967295" type="ctrTitle"/>
          </p:nvPr>
        </p:nvSpPr>
        <p:spPr>
          <a:xfrm>
            <a:off x="4412800" y="1740700"/>
            <a:ext cx="4383000" cy="259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latin typeface="Poppins"/>
                <a:ea typeface="Poppins"/>
                <a:cs typeface="Poppins"/>
                <a:sym typeface="Poppins"/>
              </a:rPr>
              <a:t>Sobald die Sitzung gestartet ist, sehen Sie auf Ihrem Bildschirm den Code für den Beitritt zur Sitzung, den jeder Fahrer benötigt, um an der Sitzung teilzunehmen</a:t>
            </a:r>
            <a:endParaRPr sz="15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latin typeface="Poppins"/>
                <a:ea typeface="Poppins"/>
                <a:cs typeface="Poppins"/>
                <a:sym typeface="Poppins"/>
              </a:rPr>
              <a:t>EX: ZWECG</a:t>
            </a:r>
            <a:endParaRPr sz="15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" sz="1500">
                <a:latin typeface="Poppins"/>
                <a:ea typeface="Poppins"/>
                <a:cs typeface="Poppins"/>
                <a:sym typeface="Poppins"/>
              </a:rPr>
            </a:br>
            <a:endParaRPr sz="15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47" name="Google Shape;147;p20"/>
          <p:cNvPicPr preferRelativeResize="0"/>
          <p:nvPr/>
        </p:nvPicPr>
        <p:blipFill rotWithShape="1">
          <a:blip r:embed="rId4">
            <a:alphaModFix/>
          </a:blip>
          <a:srcRect b="0" l="0" r="0" t="4123"/>
          <a:stretch/>
        </p:blipFill>
        <p:spPr>
          <a:xfrm>
            <a:off x="8324150" y="0"/>
            <a:ext cx="819850" cy="79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20"/>
          <p:cNvSpPr txBox="1"/>
          <p:nvPr/>
        </p:nvSpPr>
        <p:spPr>
          <a:xfrm>
            <a:off x="1787716" y="4821100"/>
            <a:ext cx="1725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Multi-Device-Sitzung</a:t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9" name="Google Shape;149;p20"/>
          <p:cNvSpPr txBox="1"/>
          <p:nvPr/>
        </p:nvSpPr>
        <p:spPr>
          <a:xfrm>
            <a:off x="3473800" y="4804800"/>
            <a:ext cx="1317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50" name="Google Shape;150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27525" y="1257075"/>
            <a:ext cx="1646275" cy="3564024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0"/>
          <p:cNvSpPr/>
          <p:nvPr/>
        </p:nvSpPr>
        <p:spPr>
          <a:xfrm>
            <a:off x="2289174" y="1415600"/>
            <a:ext cx="713700" cy="273900"/>
          </a:xfrm>
          <a:prstGeom prst="ellipse">
            <a:avLst/>
          </a:prstGeom>
          <a:noFill/>
          <a:ln cap="flat" cmpd="sng" w="28575">
            <a:solidFill>
              <a:srgbClr val="FF4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6705816">
            <a:off x="-212987" y="298719"/>
            <a:ext cx="884675" cy="884687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1"/>
          <p:cNvSpPr txBox="1"/>
          <p:nvPr>
            <p:ph idx="4294967295" type="ctrTitle"/>
          </p:nvPr>
        </p:nvSpPr>
        <p:spPr>
          <a:xfrm>
            <a:off x="804175" y="340950"/>
            <a:ext cx="7433400" cy="74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3000">
                <a:latin typeface="Poppins ExtraBold"/>
                <a:ea typeface="Poppins ExtraBold"/>
                <a:cs typeface="Poppins ExtraBold"/>
                <a:sym typeface="Poppins ExtraBold"/>
              </a:rPr>
              <a:t>Unterhaltung mit mehreren Geräten </a:t>
            </a:r>
            <a:r>
              <a:rPr i="1" lang="en" sz="2000">
                <a:latin typeface="Poppins ExtraBold"/>
                <a:ea typeface="Poppins ExtraBold"/>
                <a:cs typeface="Poppins ExtraBold"/>
                <a:sym typeface="Poppins ExtraBold"/>
              </a:rPr>
              <a:t>FAHRER</a:t>
            </a:r>
            <a:endParaRPr i="1" sz="100">
              <a:latin typeface="Poppins ExtraBold"/>
              <a:ea typeface="Poppins ExtraBold"/>
              <a:cs typeface="Poppins ExtraBold"/>
              <a:sym typeface="Poppins ExtraBold"/>
            </a:endParaRPr>
          </a:p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4000"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158" name="Google Shape;158;p21"/>
          <p:cNvSpPr txBox="1"/>
          <p:nvPr>
            <p:ph idx="4294967295" type="ctrTitle"/>
          </p:nvPr>
        </p:nvSpPr>
        <p:spPr>
          <a:xfrm>
            <a:off x="4995075" y="1315875"/>
            <a:ext cx="4149000" cy="259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Geben Sie den Sitzungscode an jeden Fahrer weiter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4B4B"/>
              </a:buClr>
              <a:buSzPts val="1200"/>
              <a:buFont typeface="Poppins"/>
              <a:buAutoNum type="arabicPeriod"/>
            </a:pP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Der Fahrer gibt den Code ein (z. B. ILYXG) und klickt auf "Beitreten", um an den Sitzungen teilzunehmen.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4B4B"/>
              </a:buClr>
              <a:buSzPts val="1200"/>
              <a:buFont typeface="Poppins"/>
              <a:buAutoNum type="arabicPeriod"/>
            </a:pP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Während die Fahrer teilnehmen, sehen Sie ihre Registrierungsnamen in der Konversation.</a:t>
            </a:r>
            <a:br>
              <a:rPr lang="en" sz="1200">
                <a:latin typeface="Poppins"/>
                <a:ea typeface="Poppins"/>
                <a:cs typeface="Poppins"/>
                <a:sym typeface="Poppins"/>
              </a:rPr>
            </a:br>
            <a:endParaRPr sz="12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Sobald Sie auf "Start" geklickt haben, wird die Sitzung erstellt und jeder Fahrer erhält einen Code, um der Sitzung beizutreten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.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59" name="Google Shape;159;p21"/>
          <p:cNvPicPr preferRelativeResize="0"/>
          <p:nvPr/>
        </p:nvPicPr>
        <p:blipFill rotWithShape="1">
          <a:blip r:embed="rId4">
            <a:alphaModFix/>
          </a:blip>
          <a:srcRect b="0" l="0" r="0" t="4123"/>
          <a:stretch/>
        </p:blipFill>
        <p:spPr>
          <a:xfrm>
            <a:off x="8324150" y="0"/>
            <a:ext cx="819850" cy="793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0" name="Google Shape;160;p21"/>
          <p:cNvCxnSpPr>
            <a:stCxn id="161" idx="3"/>
            <a:endCxn id="162" idx="1"/>
          </p:cNvCxnSpPr>
          <p:nvPr/>
        </p:nvCxnSpPr>
        <p:spPr>
          <a:xfrm>
            <a:off x="2450451" y="3039101"/>
            <a:ext cx="858900" cy="0"/>
          </a:xfrm>
          <a:prstGeom prst="straightConnector1">
            <a:avLst/>
          </a:prstGeom>
          <a:noFill/>
          <a:ln cap="flat" cmpd="sng" w="38100">
            <a:solidFill>
              <a:srgbClr val="FF4B4B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3" name="Google Shape;163;p21"/>
          <p:cNvSpPr txBox="1"/>
          <p:nvPr/>
        </p:nvSpPr>
        <p:spPr>
          <a:xfrm>
            <a:off x="968513" y="4821100"/>
            <a:ext cx="1317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Home-page</a:t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4" name="Google Shape;164;p21"/>
          <p:cNvSpPr txBox="1"/>
          <p:nvPr/>
        </p:nvSpPr>
        <p:spPr>
          <a:xfrm>
            <a:off x="2502813" y="4821125"/>
            <a:ext cx="3298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Konversation mit mehreren Geräten</a:t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65" name="Google Shape;165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4050" y="1257072"/>
            <a:ext cx="1646275" cy="3564052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1"/>
          <p:cNvSpPr/>
          <p:nvPr/>
        </p:nvSpPr>
        <p:spPr>
          <a:xfrm>
            <a:off x="804175" y="2346225"/>
            <a:ext cx="1049700" cy="372900"/>
          </a:xfrm>
          <a:prstGeom prst="ellipse">
            <a:avLst/>
          </a:prstGeom>
          <a:noFill/>
          <a:ln cap="flat" cmpd="sng" w="28575">
            <a:solidFill>
              <a:srgbClr val="FF4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7" name="Google Shape;167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335701" y="1271425"/>
            <a:ext cx="1633024" cy="353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6705816">
            <a:off x="-212987" y="298719"/>
            <a:ext cx="884675" cy="884687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2"/>
          <p:cNvSpPr txBox="1"/>
          <p:nvPr>
            <p:ph idx="4294967295" type="ctrTitle"/>
          </p:nvPr>
        </p:nvSpPr>
        <p:spPr>
          <a:xfrm>
            <a:off x="804175" y="340950"/>
            <a:ext cx="7433400" cy="74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4000">
                <a:latin typeface="Poppins ExtraBold"/>
                <a:ea typeface="Poppins ExtraBold"/>
                <a:cs typeface="Poppins ExtraBold"/>
                <a:sym typeface="Poppins ExtraBold"/>
              </a:rPr>
              <a:t>Wie man babbel benutzt</a:t>
            </a:r>
            <a:endParaRPr i="1" sz="4000"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174" name="Google Shape;174;p22"/>
          <p:cNvSpPr txBox="1"/>
          <p:nvPr>
            <p:ph idx="4294967295" type="ctrTitle"/>
          </p:nvPr>
        </p:nvSpPr>
        <p:spPr>
          <a:xfrm>
            <a:off x="4304325" y="1315875"/>
            <a:ext cx="4647000" cy="305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Sobald die Sitzung gestartet ist und die Treiber verbunden sind: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4B4B"/>
              </a:buClr>
              <a:buSzPts val="1200"/>
              <a:buFont typeface="Poppins"/>
              <a:buAutoNum type="arabicPeriod"/>
            </a:pP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Klicken Sie auf das Mikrofon unten links und beginnen Sie zu sprechen.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4B4B"/>
              </a:buClr>
              <a:buSzPts val="1200"/>
              <a:buFont typeface="Poppins"/>
              <a:buAutoNum type="arabicPeriod"/>
            </a:pP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Klicken Sie erneut, wenn Sie fertig sind, damit andere Teilnehmer sprechen können. 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4B4B"/>
              </a:buClr>
              <a:buSzPts val="1200"/>
              <a:buFont typeface="Poppins"/>
              <a:buAutoNum type="arabicPeriod"/>
            </a:pP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Klicken Sie auf die Tastatur, um Sätze zu schreiben und zu übersetzen.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4B4B"/>
              </a:buClr>
              <a:buSzPts val="1200"/>
              <a:buFont typeface="Poppins"/>
              <a:buAutoNum type="arabicPeriod"/>
            </a:pP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Klicken Sie auf das Symbol "Mitglied hinzufügen" unten, um einen QR-Code zu generieren, mit dem die Fahrer der Sitzung beitreten können.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4B4B"/>
              </a:buClr>
              <a:buSzPts val="1200"/>
              <a:buFont typeface="Poppins"/>
              <a:buAutoNum type="arabicPeriod"/>
            </a:pP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Klicken Sie auf das Zahnrad, um die Einstellungen zu öffnen - aktivieren Sie den Sprachmodus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75" name="Google Shape;175;p22"/>
          <p:cNvPicPr preferRelativeResize="0"/>
          <p:nvPr/>
        </p:nvPicPr>
        <p:blipFill rotWithShape="1">
          <a:blip r:embed="rId4">
            <a:alphaModFix/>
          </a:blip>
          <a:srcRect b="0" l="0" r="0" t="4123"/>
          <a:stretch/>
        </p:blipFill>
        <p:spPr>
          <a:xfrm>
            <a:off x="8324150" y="0"/>
            <a:ext cx="819850" cy="79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2"/>
          <p:cNvSpPr txBox="1"/>
          <p:nvPr/>
        </p:nvSpPr>
        <p:spPr>
          <a:xfrm>
            <a:off x="1657463" y="4804800"/>
            <a:ext cx="2295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Multi-Geräte-Aktivierung</a:t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77" name="Google Shape;177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92700" y="2172976"/>
            <a:ext cx="278500" cy="27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2"/>
          <p:cNvPicPr preferRelativeResize="0"/>
          <p:nvPr/>
        </p:nvPicPr>
        <p:blipFill rotWithShape="1">
          <a:blip r:embed="rId6">
            <a:alphaModFix/>
          </a:blip>
          <a:srcRect b="0" l="0" r="11095" t="0"/>
          <a:stretch/>
        </p:blipFill>
        <p:spPr>
          <a:xfrm>
            <a:off x="6356800" y="3266575"/>
            <a:ext cx="355675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945363" y="1128525"/>
            <a:ext cx="1719213" cy="37219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2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099725" y="4669902"/>
            <a:ext cx="304800" cy="32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6705809">
            <a:off x="8085147" y="4097305"/>
            <a:ext cx="1262532" cy="1262544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3"/>
          <p:cNvSpPr txBox="1"/>
          <p:nvPr>
            <p:ph idx="4294967295" type="ctrTitle"/>
          </p:nvPr>
        </p:nvSpPr>
        <p:spPr>
          <a:xfrm>
            <a:off x="894575" y="688275"/>
            <a:ext cx="7271700" cy="74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4000">
                <a:latin typeface="Poppins ExtraBold"/>
                <a:ea typeface="Poppins ExtraBold"/>
                <a:cs typeface="Poppins ExtraBold"/>
                <a:sym typeface="Poppins ExtraBold"/>
              </a:rPr>
              <a:t>Babbel Tips</a:t>
            </a:r>
            <a:endParaRPr i="1" sz="4000"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187" name="Google Shape;187;p23"/>
          <p:cNvSpPr txBox="1"/>
          <p:nvPr>
            <p:ph idx="4294967295" type="ctrTitle"/>
          </p:nvPr>
        </p:nvSpPr>
        <p:spPr>
          <a:xfrm>
            <a:off x="3422425" y="2200225"/>
            <a:ext cx="2379600" cy="13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Es ist nicht notwendig, das Mikrofon nach jedem Satz an- und auszuschalten.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Lassen Sie es eingeschaltet, bis Sie Ihren Satz beenden oder der Fahrer Fragen hat. Die Übersetzung wird simultan durchgeführt.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8" name="Google Shape;188;p23"/>
          <p:cNvSpPr txBox="1"/>
          <p:nvPr>
            <p:ph idx="4294967295" type="ctrTitle"/>
          </p:nvPr>
        </p:nvSpPr>
        <p:spPr>
          <a:xfrm>
            <a:off x="3076375" y="1770750"/>
            <a:ext cx="3071700" cy="49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FF4B4B"/>
                </a:solidFill>
                <a:latin typeface="Poppins"/>
                <a:ea typeface="Poppins"/>
                <a:cs typeface="Poppins"/>
                <a:sym typeface="Poppins"/>
              </a:rPr>
              <a:t>Während des Gesprächs</a:t>
            </a:r>
            <a:endParaRPr b="1" sz="1700">
              <a:solidFill>
                <a:srgbClr val="FF4B4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9" name="Google Shape;189;p23"/>
          <p:cNvSpPr txBox="1"/>
          <p:nvPr>
            <p:ph idx="4294967295" type="ctrTitle"/>
          </p:nvPr>
        </p:nvSpPr>
        <p:spPr>
          <a:xfrm>
            <a:off x="739900" y="2200213"/>
            <a:ext cx="2304900" cy="13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Kümmern Sie sich nicht darum, wie Sie sprechen. 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Sprechen Sie in </a:t>
            </a: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Ihrer</a:t>
            </a: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 Sprache sauber und klar. 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Schnelles Sprechen ist perfekt!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0" name="Google Shape;190;p23"/>
          <p:cNvSpPr txBox="1"/>
          <p:nvPr>
            <p:ph idx="4294967295" type="ctrTitle"/>
          </p:nvPr>
        </p:nvSpPr>
        <p:spPr>
          <a:xfrm>
            <a:off x="739900" y="1770738"/>
            <a:ext cx="2304900" cy="49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FF4B4B"/>
                </a:solidFill>
                <a:latin typeface="Poppins"/>
                <a:ea typeface="Poppins"/>
                <a:cs typeface="Poppins"/>
                <a:sym typeface="Poppins"/>
              </a:rPr>
              <a:t>Wie man spricht</a:t>
            </a:r>
            <a:endParaRPr b="1" sz="1700">
              <a:solidFill>
                <a:srgbClr val="FF4B4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1" name="Google Shape;191;p23"/>
          <p:cNvSpPr txBox="1"/>
          <p:nvPr>
            <p:ph idx="4294967295" type="ctrTitle"/>
          </p:nvPr>
        </p:nvSpPr>
        <p:spPr>
          <a:xfrm>
            <a:off x="6104925" y="2200213"/>
            <a:ext cx="2304900" cy="13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Die Fahrer können in den Sitzungseinstellungen den Sprachmodus aktivieren. So können </a:t>
            </a: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Sie</a:t>
            </a: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 die </a:t>
            </a: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Übersetzung</a:t>
            </a: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 hören und dem Unterricht problemlos folgen. 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Kopfhörer sind sehr zu empfehlen.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2" name="Google Shape;192;p23"/>
          <p:cNvSpPr txBox="1"/>
          <p:nvPr>
            <p:ph idx="4294967295" type="ctrTitle"/>
          </p:nvPr>
        </p:nvSpPr>
        <p:spPr>
          <a:xfrm>
            <a:off x="6104925" y="1770738"/>
            <a:ext cx="2304900" cy="49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FF4B4B"/>
                </a:solidFill>
                <a:latin typeface="Poppins"/>
                <a:ea typeface="Poppins"/>
                <a:cs typeface="Poppins"/>
                <a:sym typeface="Poppins"/>
              </a:rPr>
              <a:t>Für Fahrer</a:t>
            </a:r>
            <a:endParaRPr b="1" sz="1700">
              <a:solidFill>
                <a:srgbClr val="FF4B4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93" name="Google Shape;193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35550" y="557024"/>
            <a:ext cx="532975" cy="1133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3"/>
          <p:cNvPicPr preferRelativeResize="0"/>
          <p:nvPr/>
        </p:nvPicPr>
        <p:blipFill rotWithShape="1">
          <a:blip r:embed="rId5">
            <a:alphaModFix/>
          </a:blip>
          <a:srcRect b="0" l="0" r="0" t="4123"/>
          <a:stretch/>
        </p:blipFill>
        <p:spPr>
          <a:xfrm>
            <a:off x="8324150" y="0"/>
            <a:ext cx="819850" cy="79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