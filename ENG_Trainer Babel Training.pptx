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Poppins"/>
      <p:regular r:id="rId21"/>
      <p:bold r:id="rId22"/>
      <p:italic r:id="rId23"/>
      <p:boldItalic r:id="rId24"/>
    </p:embeddedFont>
    <p:embeddedFont>
      <p:font typeface="Poppins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ExtraBold-boldItalic.fntdata"/><Relationship Id="rId25" Type="http://schemas.openxmlformats.org/officeDocument/2006/relationships/font" Target="fonts/Poppins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3dfd6aea6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3dfd6aea6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9fa9f219b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9fa9f219b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9fa9f219b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9fa9f219b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e6550190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3e6550190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9fa9f219b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9fa9f219b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9fa9f219b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9fa9f219b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9fa9f219b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9fa9f219b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9fa9f219b0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9fa9f219b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9fa9f219b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9fa9f219b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3e6550190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3e6550190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7.png"/><Relationship Id="rId7" Type="http://schemas.openxmlformats.org/officeDocument/2006/relationships/image" Target="../media/image5.png"/><Relationship Id="rId8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jpg"/><Relationship Id="rId5" Type="http://schemas.openxmlformats.org/officeDocument/2006/relationships/image" Target="../media/image3.png"/><Relationship Id="rId6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1.jpg"/><Relationship Id="rId6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1.jpg"/><Relationship Id="rId6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1.jpg"/><Relationship Id="rId6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Relationship Id="rId7" Type="http://schemas.openxmlformats.org/officeDocument/2006/relationships/image" Target="../media/image14.jpg"/><Relationship Id="rId8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798">
            <a:off x="-367146" y="141999"/>
            <a:ext cx="1665322" cy="1665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8300" y="-606125"/>
            <a:ext cx="3090074" cy="657162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type="ctrTitle"/>
          </p:nvPr>
        </p:nvSpPr>
        <p:spPr>
          <a:xfrm>
            <a:off x="488350" y="2250675"/>
            <a:ext cx="7348500" cy="188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400">
                <a:latin typeface="Poppins ExtraBold"/>
                <a:ea typeface="Poppins ExtraBold"/>
                <a:cs typeface="Poppins ExtraBold"/>
                <a:sym typeface="Poppins ExtraBold"/>
              </a:rPr>
              <a:t>Amazon - Babel + App Training</a:t>
            </a:r>
            <a:endParaRPr i="1" sz="44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4294967295" type="ctrTitle"/>
          </p:nvPr>
        </p:nvSpPr>
        <p:spPr>
          <a:xfrm>
            <a:off x="804175" y="370113"/>
            <a:ext cx="71469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Babel + App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8387238" y="3932044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idx="4294967295" type="ctrTitle"/>
          </p:nvPr>
        </p:nvSpPr>
        <p:spPr>
          <a:xfrm>
            <a:off x="804175" y="1315875"/>
            <a:ext cx="7146900" cy="30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oppins"/>
                <a:ea typeface="Poppins"/>
                <a:cs typeface="Poppins"/>
                <a:sym typeface="Poppins"/>
              </a:rPr>
              <a:t>Babel App is technology tool that Amazon provides </a:t>
            </a:r>
            <a:r>
              <a:rPr lang="en" sz="1700">
                <a:latin typeface="Poppins"/>
                <a:ea typeface="Poppins"/>
                <a:cs typeface="Poppins"/>
                <a:sym typeface="Poppins"/>
              </a:rPr>
              <a:t>trainers to  break down language barriers</a:t>
            </a:r>
            <a:br>
              <a:rPr lang="en" sz="1700">
                <a:latin typeface="Poppins"/>
                <a:ea typeface="Poppins"/>
                <a:cs typeface="Poppins"/>
                <a:sym typeface="Poppins"/>
              </a:rPr>
            </a:br>
            <a:br>
              <a:rPr lang="en" sz="1700">
                <a:latin typeface="Poppins"/>
                <a:ea typeface="Poppins"/>
                <a:cs typeface="Poppins"/>
                <a:sym typeface="Poppins"/>
              </a:rPr>
            </a:br>
            <a:r>
              <a:rPr lang="en" sz="1700">
                <a:latin typeface="Poppins"/>
                <a:ea typeface="Poppins"/>
                <a:cs typeface="Poppins"/>
                <a:sym typeface="Poppins"/>
              </a:rPr>
              <a:t>Thanks to this App, your training session will be instantly translate in more than 25 languages and drivers will able to read/listen the class in their own language simultaneously.</a:t>
            </a:r>
            <a:br>
              <a:rPr lang="en" sz="1700">
                <a:latin typeface="Poppins"/>
                <a:ea typeface="Poppins"/>
                <a:cs typeface="Poppins"/>
                <a:sym typeface="Poppins"/>
              </a:rPr>
            </a:br>
            <a:br>
              <a:rPr lang="en" sz="1700">
                <a:latin typeface="Poppins"/>
                <a:ea typeface="Poppins"/>
                <a:cs typeface="Poppins"/>
                <a:sym typeface="Poppins"/>
              </a:rPr>
            </a:br>
            <a:r>
              <a:rPr lang="en" sz="1700">
                <a:latin typeface="Poppins"/>
                <a:ea typeface="Poppins"/>
                <a:cs typeface="Poppins"/>
                <a:sym typeface="Poppins"/>
              </a:rPr>
              <a:t>Amazon Drivers use this app during their morning session.</a:t>
            </a:r>
            <a:endParaRPr sz="15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idx="4294967295" type="ctrTitle"/>
          </p:nvPr>
        </p:nvSpPr>
        <p:spPr>
          <a:xfrm>
            <a:off x="804175" y="370113"/>
            <a:ext cx="71469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Download App - Android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8387238" y="3932044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idx="4294967295" type="ctrTitle"/>
          </p:nvPr>
        </p:nvSpPr>
        <p:spPr>
          <a:xfrm>
            <a:off x="804175" y="1112025"/>
            <a:ext cx="7146900" cy="30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Scan the QR code and </a:t>
            </a: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download the app from your play store.</a:t>
            </a: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3525" y="2441000"/>
            <a:ext cx="2508200" cy="25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00513" y="1684050"/>
            <a:ext cx="554225" cy="65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idx="4294967295" type="ctrTitle"/>
          </p:nvPr>
        </p:nvSpPr>
        <p:spPr>
          <a:xfrm>
            <a:off x="804175" y="370113"/>
            <a:ext cx="71469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Download App - iOS Apple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8387238" y="3932044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>
            <p:ph idx="4294967295" type="ctrTitle"/>
          </p:nvPr>
        </p:nvSpPr>
        <p:spPr>
          <a:xfrm>
            <a:off x="804175" y="1112025"/>
            <a:ext cx="7146900" cy="30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AutoNum type="arabicPeriod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Scan the 1st QR code, </a:t>
            </a: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download</a:t>
            </a: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 the app from the apple store and close it.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AutoNum type="arabicPeriod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Scan the 2nd QR code and download babel translator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6875" y="2722325"/>
            <a:ext cx="2255475" cy="22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12900" y="2728025"/>
            <a:ext cx="2255476" cy="2255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16"/>
          <p:cNvCxnSpPr/>
          <p:nvPr/>
        </p:nvCxnSpPr>
        <p:spPr>
          <a:xfrm>
            <a:off x="4003675" y="3799575"/>
            <a:ext cx="747900" cy="5700"/>
          </a:xfrm>
          <a:prstGeom prst="straightConnector1">
            <a:avLst/>
          </a:prstGeom>
          <a:noFill/>
          <a:ln cap="flat" cmpd="sng" w="38100">
            <a:solidFill>
              <a:srgbClr val="FF4B4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" name="Google Shape;89;p16"/>
          <p:cNvSpPr txBox="1"/>
          <p:nvPr/>
        </p:nvSpPr>
        <p:spPr>
          <a:xfrm>
            <a:off x="1121475" y="2728025"/>
            <a:ext cx="365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</a:t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4647500" y="2728025"/>
            <a:ext cx="365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74850" y="2124125"/>
            <a:ext cx="479524" cy="47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52703" y="2027775"/>
            <a:ext cx="575875" cy="57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>
            <p:ph idx="4294967295" type="ctrTitle"/>
          </p:nvPr>
        </p:nvSpPr>
        <p:spPr>
          <a:xfrm>
            <a:off x="804175" y="340950"/>
            <a:ext cx="71469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Registration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8501538" y="3942444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>
            <p:ph idx="4294967295" type="ctrTitle"/>
          </p:nvPr>
        </p:nvSpPr>
        <p:spPr>
          <a:xfrm>
            <a:off x="5223400" y="2049150"/>
            <a:ext cx="3847800" cy="18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500"/>
              <a:buFont typeface="Poppins"/>
              <a:buAutoNum type="arabicPeriod"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Open Babbel App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500"/>
              <a:buFont typeface="Poppins"/>
              <a:buAutoNum type="arabicPeriod"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Enter your Name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500"/>
              <a:buFont typeface="Poppins"/>
              <a:buAutoNum type="arabicPeriod"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Choose the app </a:t>
            </a: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language</a:t>
            </a: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500"/>
              <a:buFont typeface="Poppins"/>
              <a:buAutoNum type="arabicPeriod"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Click “Enter”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500"/>
              <a:buFont typeface="Poppins"/>
              <a:buAutoNum type="arabicPeriod"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You will be </a:t>
            </a: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redirected</a:t>
            </a: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 to the home-page 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176" y="1257100"/>
            <a:ext cx="1646275" cy="356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 rotWithShape="1">
          <a:blip r:embed="rId5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9475" y="1257047"/>
            <a:ext cx="1646275" cy="35640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17"/>
          <p:cNvCxnSpPr>
            <a:stCxn id="101" idx="3"/>
            <a:endCxn id="103" idx="1"/>
          </p:cNvCxnSpPr>
          <p:nvPr/>
        </p:nvCxnSpPr>
        <p:spPr>
          <a:xfrm>
            <a:off x="2450451" y="3039101"/>
            <a:ext cx="858900" cy="0"/>
          </a:xfrm>
          <a:prstGeom prst="straightConnector1">
            <a:avLst/>
          </a:prstGeom>
          <a:noFill/>
          <a:ln cap="flat" cmpd="sng" w="38100">
            <a:solidFill>
              <a:srgbClr val="FF4B4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7"/>
          <p:cNvSpPr txBox="1"/>
          <p:nvPr/>
        </p:nvSpPr>
        <p:spPr>
          <a:xfrm>
            <a:off x="968513" y="4821100"/>
            <a:ext cx="131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Registration page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3473800" y="4804800"/>
            <a:ext cx="131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Home-page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>
            <p:ph idx="4294967295" type="ctrTitle"/>
          </p:nvPr>
        </p:nvSpPr>
        <p:spPr>
          <a:xfrm>
            <a:off x="804175" y="340950"/>
            <a:ext cx="71469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Babel settings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8501538" y="3942444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>
            <p:ph idx="4294967295" type="ctrTitle"/>
          </p:nvPr>
        </p:nvSpPr>
        <p:spPr>
          <a:xfrm>
            <a:off x="5103525" y="1315880"/>
            <a:ext cx="4007400" cy="25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From home page,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click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on the tree lines up-left to open setting page.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 u="sng">
                <a:latin typeface="Poppins"/>
                <a:ea typeface="Poppins"/>
                <a:cs typeface="Poppins"/>
                <a:sym typeface="Poppins"/>
              </a:rPr>
              <a:t>Your name: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Edit your registration name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 u="sng">
                <a:latin typeface="Poppins"/>
                <a:ea typeface="Poppins"/>
                <a:cs typeface="Poppins"/>
                <a:sym typeface="Poppins"/>
              </a:rPr>
              <a:t>Your </a:t>
            </a:r>
            <a:r>
              <a:rPr lang="en" sz="1200" u="sng">
                <a:latin typeface="Poppins"/>
                <a:ea typeface="Poppins"/>
                <a:cs typeface="Poppins"/>
                <a:sym typeface="Poppins"/>
              </a:rPr>
              <a:t>language: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change the language you want to translate or speak.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 u="sng">
                <a:latin typeface="Poppins"/>
                <a:ea typeface="Poppins"/>
                <a:cs typeface="Poppins"/>
                <a:sym typeface="Poppins"/>
              </a:rPr>
              <a:t>Profanity filter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: Encrypt vulgar words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 u="sng">
                <a:latin typeface="Poppins"/>
                <a:ea typeface="Poppins"/>
                <a:cs typeface="Poppins"/>
                <a:sym typeface="Poppins"/>
              </a:rPr>
              <a:t>Show Original text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: enable to see translations and original language text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 u="sng">
                <a:latin typeface="Poppins"/>
                <a:ea typeface="Poppins"/>
                <a:cs typeface="Poppins"/>
                <a:sym typeface="Poppins"/>
              </a:rPr>
              <a:t>Message text size</a:t>
            </a:r>
            <a:endParaRPr b="1" sz="1200" u="sng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5" name="Google Shape;115;p18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p18"/>
          <p:cNvCxnSpPr>
            <a:stCxn id="117" idx="3"/>
            <a:endCxn id="118" idx="1"/>
          </p:cNvCxnSpPr>
          <p:nvPr/>
        </p:nvCxnSpPr>
        <p:spPr>
          <a:xfrm>
            <a:off x="2450451" y="3039101"/>
            <a:ext cx="858900" cy="0"/>
          </a:xfrm>
          <a:prstGeom prst="straightConnector1">
            <a:avLst/>
          </a:prstGeom>
          <a:noFill/>
          <a:ln cap="flat" cmpd="sng" w="38100">
            <a:solidFill>
              <a:srgbClr val="FF4B4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8"/>
          <p:cNvSpPr txBox="1"/>
          <p:nvPr/>
        </p:nvSpPr>
        <p:spPr>
          <a:xfrm>
            <a:off x="968513" y="4821100"/>
            <a:ext cx="131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Home-page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3473800" y="4804800"/>
            <a:ext cx="131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Settings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050" y="1257072"/>
            <a:ext cx="1646275" cy="3564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9475" y="1257050"/>
            <a:ext cx="1646275" cy="356401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/>
          <p:nvPr/>
        </p:nvSpPr>
        <p:spPr>
          <a:xfrm>
            <a:off x="804050" y="1438450"/>
            <a:ext cx="278700" cy="273900"/>
          </a:xfrm>
          <a:prstGeom prst="ellipse">
            <a:avLst/>
          </a:prstGeom>
          <a:noFill/>
          <a:ln cap="flat" cmpd="sng" w="2857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>
            <p:ph idx="4294967295" type="ctrTitle"/>
          </p:nvPr>
        </p:nvSpPr>
        <p:spPr>
          <a:xfrm>
            <a:off x="804175" y="340950"/>
            <a:ext cx="7433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Multi-device conversation</a:t>
            </a:r>
            <a:r>
              <a:rPr i="1" lang="en" sz="3500">
                <a:latin typeface="Poppins ExtraBold"/>
                <a:ea typeface="Poppins ExtraBold"/>
                <a:cs typeface="Poppins ExtraBold"/>
                <a:sym typeface="Poppins ExtraBold"/>
              </a:rPr>
              <a:t>  </a:t>
            </a:r>
            <a:r>
              <a:rPr i="1" lang="en" sz="2100">
                <a:latin typeface="Poppins ExtraBold"/>
                <a:ea typeface="Poppins ExtraBold"/>
                <a:cs typeface="Poppins ExtraBold"/>
                <a:sym typeface="Poppins ExtraBold"/>
              </a:rPr>
              <a:t>Trainers only</a:t>
            </a:r>
            <a:endParaRPr i="1" sz="19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30" name="Google Shape;130;p19"/>
          <p:cNvSpPr txBox="1"/>
          <p:nvPr>
            <p:ph idx="4294967295" type="ctrTitle"/>
          </p:nvPr>
        </p:nvSpPr>
        <p:spPr>
          <a:xfrm>
            <a:off x="4995075" y="1315875"/>
            <a:ext cx="4149000" cy="25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Trainers can create a session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clicking “Start” under Multi-device conversation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 u="sng">
                <a:latin typeface="Poppins"/>
                <a:ea typeface="Poppins"/>
                <a:cs typeface="Poppins"/>
                <a:sym typeface="Poppins"/>
              </a:rPr>
              <a:t>Country/Region: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choose the training’s country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 u="sng">
                <a:latin typeface="Poppins"/>
                <a:ea typeface="Poppins"/>
                <a:cs typeface="Poppins"/>
                <a:sym typeface="Poppins"/>
              </a:rPr>
              <a:t>DS/Team</a:t>
            </a:r>
            <a:r>
              <a:rPr lang="en" sz="1200" u="sng"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Choose the AMAZON station of the training - </a:t>
            </a:r>
            <a:r>
              <a:rPr lang="en" sz="1200">
                <a:highlight>
                  <a:schemeClr val="accent6"/>
                </a:highlight>
                <a:latin typeface="Poppins"/>
                <a:ea typeface="Poppins"/>
                <a:cs typeface="Poppins"/>
                <a:sym typeface="Poppins"/>
              </a:rPr>
              <a:t>ADD COUNTRY DS CODE</a:t>
            </a:r>
            <a:endParaRPr sz="1200">
              <a:highlight>
                <a:schemeClr val="accent6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 u="sng">
                <a:latin typeface="Poppins"/>
                <a:ea typeface="Poppins"/>
                <a:cs typeface="Poppins"/>
                <a:sym typeface="Poppins"/>
              </a:rPr>
              <a:t>PIN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: TRAINER (all caps letters)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Click on “Start”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latin typeface="Poppins"/>
                <a:ea typeface="Poppins"/>
                <a:cs typeface="Poppins"/>
                <a:sym typeface="Poppins"/>
              </a:rPr>
            </a:br>
            <a:br>
              <a:rPr lang="en" sz="1200">
                <a:latin typeface="Poppins"/>
                <a:ea typeface="Poppins"/>
                <a:cs typeface="Poppins"/>
                <a:sym typeface="Poppins"/>
              </a:rPr>
            </a:b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Once you clicked start, the session will bec created as well as a code for each driver to join the session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1" name="Google Shape;131;p19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19"/>
          <p:cNvCxnSpPr>
            <a:stCxn id="133" idx="3"/>
            <a:endCxn id="134" idx="1"/>
          </p:cNvCxnSpPr>
          <p:nvPr/>
        </p:nvCxnSpPr>
        <p:spPr>
          <a:xfrm>
            <a:off x="2450451" y="3039101"/>
            <a:ext cx="858900" cy="0"/>
          </a:xfrm>
          <a:prstGeom prst="straightConnector1">
            <a:avLst/>
          </a:prstGeom>
          <a:noFill/>
          <a:ln cap="flat" cmpd="sng" w="38100">
            <a:solidFill>
              <a:srgbClr val="FF4B4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19"/>
          <p:cNvSpPr txBox="1"/>
          <p:nvPr/>
        </p:nvSpPr>
        <p:spPr>
          <a:xfrm>
            <a:off x="968513" y="4821100"/>
            <a:ext cx="131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Home-page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2905700" y="4804800"/>
            <a:ext cx="2295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Multi-device conv activation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7" name="Google Shape;13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050" y="1257072"/>
            <a:ext cx="1646275" cy="356405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/>
          <p:nvPr/>
        </p:nvSpPr>
        <p:spPr>
          <a:xfrm>
            <a:off x="784925" y="2129300"/>
            <a:ext cx="1684800" cy="372900"/>
          </a:xfrm>
          <a:prstGeom prst="ellipse">
            <a:avLst/>
          </a:prstGeom>
          <a:noFill/>
          <a:ln cap="flat" cmpd="sng" w="2857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9465" y="1257088"/>
            <a:ext cx="1646275" cy="3564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 txBox="1"/>
          <p:nvPr>
            <p:ph idx="4294967295" type="ctrTitle"/>
          </p:nvPr>
        </p:nvSpPr>
        <p:spPr>
          <a:xfrm>
            <a:off x="804175" y="340950"/>
            <a:ext cx="7433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Multi-device session CODE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46" name="Google Shape;146;p20"/>
          <p:cNvSpPr txBox="1"/>
          <p:nvPr>
            <p:ph idx="4294967295" type="ctrTitle"/>
          </p:nvPr>
        </p:nvSpPr>
        <p:spPr>
          <a:xfrm>
            <a:off x="4412800" y="1740700"/>
            <a:ext cx="4383000" cy="25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Once the session is started, in your screen you will see the session </a:t>
            </a:r>
            <a:r>
              <a:rPr b="1" lang="en" sz="1500">
                <a:solidFill>
                  <a:srgbClr val="FF4B4B"/>
                </a:solidFill>
                <a:latin typeface="Poppins"/>
                <a:ea typeface="Poppins"/>
                <a:cs typeface="Poppins"/>
                <a:sym typeface="Poppins"/>
              </a:rPr>
              <a:t>joining code</a:t>
            </a: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each</a:t>
            </a: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 driver needs to enter the session</a:t>
            </a:r>
            <a:br>
              <a:rPr lang="en" sz="1500">
                <a:latin typeface="Poppins"/>
                <a:ea typeface="Poppins"/>
                <a:cs typeface="Poppins"/>
                <a:sym typeface="Poppins"/>
              </a:rPr>
            </a:br>
            <a:br>
              <a:rPr lang="en" sz="1500">
                <a:latin typeface="Poppins"/>
                <a:ea typeface="Poppins"/>
                <a:cs typeface="Poppins"/>
                <a:sym typeface="Poppins"/>
              </a:rPr>
            </a:b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EX: ZWECG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500">
                <a:latin typeface="Poppins"/>
                <a:ea typeface="Poppins"/>
                <a:cs typeface="Poppins"/>
                <a:sym typeface="Poppins"/>
              </a:rPr>
            </a:b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0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/>
        </p:nvSpPr>
        <p:spPr>
          <a:xfrm>
            <a:off x="1787716" y="4821100"/>
            <a:ext cx="172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Multi-device session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3473800" y="4804800"/>
            <a:ext cx="131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0" name="Google Shape;15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7525" y="1257075"/>
            <a:ext cx="1646275" cy="356402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0"/>
          <p:cNvSpPr/>
          <p:nvPr/>
        </p:nvSpPr>
        <p:spPr>
          <a:xfrm>
            <a:off x="2289174" y="1415600"/>
            <a:ext cx="713700" cy="273900"/>
          </a:xfrm>
          <a:prstGeom prst="ellipse">
            <a:avLst/>
          </a:prstGeom>
          <a:noFill/>
          <a:ln cap="flat" cmpd="sng" w="2857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1"/>
          <p:cNvSpPr txBox="1"/>
          <p:nvPr>
            <p:ph idx="4294967295" type="ctrTitle"/>
          </p:nvPr>
        </p:nvSpPr>
        <p:spPr>
          <a:xfrm>
            <a:off x="804175" y="340950"/>
            <a:ext cx="7433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Multi-device conversation</a:t>
            </a:r>
            <a:r>
              <a:rPr i="1" lang="en" sz="3500">
                <a:latin typeface="Poppins ExtraBold"/>
                <a:ea typeface="Poppins ExtraBold"/>
                <a:cs typeface="Poppins ExtraBold"/>
                <a:sym typeface="Poppins ExtraBold"/>
              </a:rPr>
              <a:t>  </a:t>
            </a:r>
            <a:r>
              <a:rPr i="1" lang="en" sz="2100">
                <a:latin typeface="Poppins ExtraBold"/>
                <a:ea typeface="Poppins ExtraBold"/>
                <a:cs typeface="Poppins ExtraBold"/>
                <a:sym typeface="Poppins ExtraBold"/>
              </a:rPr>
              <a:t>DRIVERS</a:t>
            </a:r>
            <a:endParaRPr i="1" sz="21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58" name="Google Shape;158;p21"/>
          <p:cNvSpPr txBox="1"/>
          <p:nvPr>
            <p:ph idx="4294967295" type="ctrTitle"/>
          </p:nvPr>
        </p:nvSpPr>
        <p:spPr>
          <a:xfrm>
            <a:off x="4995075" y="1315875"/>
            <a:ext cx="4149000" cy="25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Provide the miltiu-device session code to each drivers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Driver enter the code (ex ILYXG)  and click join to enter the sessions.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As drivers are joining, you will see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thier registration name on the conversation a</a:t>
            </a:r>
            <a:br>
              <a:rPr lang="en" sz="1200">
                <a:latin typeface="Poppins"/>
                <a:ea typeface="Poppins"/>
                <a:cs typeface="Poppins"/>
                <a:sym typeface="Poppins"/>
              </a:rPr>
            </a:b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Once you clicked start, the session will bec created as well as a code for each driver to join the session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9" name="Google Shape;159;p21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21"/>
          <p:cNvCxnSpPr>
            <a:stCxn id="161" idx="3"/>
            <a:endCxn id="162" idx="1"/>
          </p:cNvCxnSpPr>
          <p:nvPr/>
        </p:nvCxnSpPr>
        <p:spPr>
          <a:xfrm>
            <a:off x="2450451" y="3039101"/>
            <a:ext cx="858900" cy="0"/>
          </a:xfrm>
          <a:prstGeom prst="straightConnector1">
            <a:avLst/>
          </a:prstGeom>
          <a:noFill/>
          <a:ln cap="flat" cmpd="sng" w="38100">
            <a:solidFill>
              <a:srgbClr val="FF4B4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p21"/>
          <p:cNvSpPr txBox="1"/>
          <p:nvPr/>
        </p:nvSpPr>
        <p:spPr>
          <a:xfrm>
            <a:off x="968513" y="4821100"/>
            <a:ext cx="131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Home-page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2905700" y="4804800"/>
            <a:ext cx="2295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Multi-device conv conversation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5" name="Google Shape;16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050" y="1257072"/>
            <a:ext cx="1646275" cy="356405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1"/>
          <p:cNvSpPr/>
          <p:nvPr/>
        </p:nvSpPr>
        <p:spPr>
          <a:xfrm>
            <a:off x="804175" y="2346225"/>
            <a:ext cx="1049700" cy="372900"/>
          </a:xfrm>
          <a:prstGeom prst="ellipse">
            <a:avLst/>
          </a:prstGeom>
          <a:noFill/>
          <a:ln cap="flat" cmpd="sng" w="2857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35701" y="1271425"/>
            <a:ext cx="1633024" cy="353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/>
          <p:nvPr>
            <p:ph idx="4294967295" type="ctrTitle"/>
          </p:nvPr>
        </p:nvSpPr>
        <p:spPr>
          <a:xfrm>
            <a:off x="804175" y="340950"/>
            <a:ext cx="7433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How to use babel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74" name="Google Shape;174;p22"/>
          <p:cNvSpPr txBox="1"/>
          <p:nvPr>
            <p:ph idx="4294967295" type="ctrTitle"/>
          </p:nvPr>
        </p:nvSpPr>
        <p:spPr>
          <a:xfrm>
            <a:off x="4304325" y="1315875"/>
            <a:ext cx="4647000" cy="30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Once the session is started and drivers are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connected: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Click on the microphone on the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bottom-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left and start speaking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Click again when you are done so other participants can speak 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Click on the keyboard to type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sentences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 and be </a:t>
            </a: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translate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Click on the Add member icon on the bottom-down to generate a QR code for driver to join the session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Click the gear to open settings - activate speech mode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5" name="Google Shape;175;p22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 txBox="1"/>
          <p:nvPr/>
        </p:nvSpPr>
        <p:spPr>
          <a:xfrm>
            <a:off x="1657463" y="4804800"/>
            <a:ext cx="229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Multi-device conv activation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7" name="Google Shape;17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6875" y="1905076"/>
            <a:ext cx="278500" cy="27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/>
          <p:cNvPicPr preferRelativeResize="0"/>
          <p:nvPr/>
        </p:nvPicPr>
        <p:blipFill rotWithShape="1">
          <a:blip r:embed="rId6">
            <a:alphaModFix/>
          </a:blip>
          <a:srcRect b="0" l="0" r="11095" t="0"/>
          <a:stretch/>
        </p:blipFill>
        <p:spPr>
          <a:xfrm>
            <a:off x="5604175" y="3003900"/>
            <a:ext cx="3556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45363" y="1128525"/>
            <a:ext cx="1719213" cy="3721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10100" y="4105652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09">
            <a:off x="8085147" y="4097305"/>
            <a:ext cx="1262532" cy="126254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 txBox="1"/>
          <p:nvPr>
            <p:ph idx="4294967295" type="ctrTitle"/>
          </p:nvPr>
        </p:nvSpPr>
        <p:spPr>
          <a:xfrm>
            <a:off x="894575" y="688275"/>
            <a:ext cx="72717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Babel Tips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7" name="Google Shape;187;p23"/>
          <p:cNvSpPr txBox="1"/>
          <p:nvPr>
            <p:ph idx="4294967295" type="ctrTitle"/>
          </p:nvPr>
        </p:nvSpPr>
        <p:spPr>
          <a:xfrm>
            <a:off x="3422425" y="2200225"/>
            <a:ext cx="2379600" cy="13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Is not necessary to click and unclick the microphone after every sentence.</a:t>
            </a:r>
            <a:br>
              <a:rPr lang="en" sz="1200">
                <a:latin typeface="Poppins"/>
                <a:ea typeface="Poppins"/>
                <a:cs typeface="Poppins"/>
                <a:sym typeface="Poppins"/>
              </a:rPr>
            </a:br>
            <a:br>
              <a:rPr lang="en" sz="1200">
                <a:latin typeface="Poppins"/>
                <a:ea typeface="Poppins"/>
                <a:cs typeface="Poppins"/>
                <a:sym typeface="Poppins"/>
              </a:rPr>
            </a:b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Leave it on until you finish your or any driver have questions. Translation will be done simultaneously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23"/>
          <p:cNvSpPr txBox="1"/>
          <p:nvPr>
            <p:ph idx="4294967295" type="ctrTitle"/>
          </p:nvPr>
        </p:nvSpPr>
        <p:spPr>
          <a:xfrm>
            <a:off x="3497175" y="1770738"/>
            <a:ext cx="2304900" cy="4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4B4B"/>
                </a:solidFill>
                <a:latin typeface="Poppins"/>
                <a:ea typeface="Poppins"/>
                <a:cs typeface="Poppins"/>
                <a:sym typeface="Poppins"/>
              </a:rPr>
              <a:t>While Talking</a:t>
            </a:r>
            <a:endParaRPr b="1" sz="1700">
              <a:solidFill>
                <a:srgbClr val="FF4B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" name="Google Shape;189;p23"/>
          <p:cNvSpPr txBox="1"/>
          <p:nvPr>
            <p:ph idx="4294967295" type="ctrTitle"/>
          </p:nvPr>
        </p:nvSpPr>
        <p:spPr>
          <a:xfrm>
            <a:off x="739900" y="2200213"/>
            <a:ext cx="2304900" cy="13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Don’t worry about how you talk. </a:t>
            </a:r>
            <a:br>
              <a:rPr lang="en" sz="1200">
                <a:latin typeface="Poppins"/>
                <a:ea typeface="Poppins"/>
                <a:cs typeface="Poppins"/>
                <a:sym typeface="Poppins"/>
              </a:rPr>
            </a:br>
            <a:br>
              <a:rPr lang="en" sz="1200">
                <a:latin typeface="Poppins"/>
                <a:ea typeface="Poppins"/>
                <a:cs typeface="Poppins"/>
                <a:sym typeface="Poppins"/>
              </a:rPr>
            </a:b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Follow your speech and make it clean and clear. </a:t>
            </a:r>
            <a:br>
              <a:rPr lang="en" sz="1200">
                <a:latin typeface="Poppins"/>
                <a:ea typeface="Poppins"/>
                <a:cs typeface="Poppins"/>
                <a:sym typeface="Poppins"/>
              </a:rPr>
            </a:br>
            <a:br>
              <a:rPr lang="en" sz="1200">
                <a:latin typeface="Poppins"/>
                <a:ea typeface="Poppins"/>
                <a:cs typeface="Poppins"/>
                <a:sym typeface="Poppins"/>
              </a:rPr>
            </a:b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Talking fast is perfect!!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" name="Google Shape;190;p23"/>
          <p:cNvSpPr txBox="1"/>
          <p:nvPr>
            <p:ph idx="4294967295" type="ctrTitle"/>
          </p:nvPr>
        </p:nvSpPr>
        <p:spPr>
          <a:xfrm>
            <a:off x="739900" y="1770738"/>
            <a:ext cx="2304900" cy="4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4B4B"/>
                </a:solidFill>
                <a:latin typeface="Poppins"/>
                <a:ea typeface="Poppins"/>
                <a:cs typeface="Poppins"/>
                <a:sym typeface="Poppins"/>
              </a:rPr>
              <a:t>How to talk</a:t>
            </a:r>
            <a:endParaRPr b="1" sz="1700">
              <a:solidFill>
                <a:srgbClr val="FF4B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p23"/>
          <p:cNvSpPr txBox="1"/>
          <p:nvPr>
            <p:ph idx="4294967295" type="ctrTitle"/>
          </p:nvPr>
        </p:nvSpPr>
        <p:spPr>
          <a:xfrm>
            <a:off x="6104925" y="2200213"/>
            <a:ext cx="2304900" cy="13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Drivers can abilitate the speech mode in the session settings. This allows them to hear your voice translated and easily follow the class </a:t>
            </a:r>
            <a:br>
              <a:rPr lang="en" sz="1200">
                <a:latin typeface="Poppins"/>
                <a:ea typeface="Poppins"/>
                <a:cs typeface="Poppins"/>
                <a:sym typeface="Poppins"/>
              </a:rPr>
            </a:br>
            <a:br>
              <a:rPr lang="en" sz="1200">
                <a:latin typeface="Poppins"/>
                <a:ea typeface="Poppins"/>
                <a:cs typeface="Poppins"/>
                <a:sym typeface="Poppins"/>
              </a:rPr>
            </a:b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headphones are much recommended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p23"/>
          <p:cNvSpPr txBox="1"/>
          <p:nvPr>
            <p:ph idx="4294967295" type="ctrTitle"/>
          </p:nvPr>
        </p:nvSpPr>
        <p:spPr>
          <a:xfrm>
            <a:off x="6104925" y="1770738"/>
            <a:ext cx="2304900" cy="4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4B4B"/>
                </a:solidFill>
                <a:latin typeface="Poppins"/>
                <a:ea typeface="Poppins"/>
                <a:cs typeface="Poppins"/>
                <a:sym typeface="Poppins"/>
              </a:rPr>
              <a:t>For Drivers</a:t>
            </a:r>
            <a:endParaRPr b="1" sz="1700">
              <a:solidFill>
                <a:srgbClr val="FF4B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3" name="Google Shape;19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5550" y="557024"/>
            <a:ext cx="532975" cy="113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3"/>
          <p:cNvPicPr preferRelativeResize="0"/>
          <p:nvPr/>
        </p:nvPicPr>
        <p:blipFill rotWithShape="1">
          <a:blip r:embed="rId5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